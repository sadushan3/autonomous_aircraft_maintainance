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From engine data to maintenance decisions</a:t>
            </a:r>
          </a:p>
          <a:p>
            <a:r>
              <a:t/>
            </a:r>
          </a:p>
          <a:p>
            <a:r>
              <a:t>Introduce AeroTwin OS as the name already used in the frontend. It is an integrated research prototype for aircraft-engine maintenance decision support. The objective is to give an engineer one traceable workflow from readings to recommended action. It is not deployed aircraft control or an approved maintenance authority. The supplied SharePoint template could not be retrieved; this is a standalone editable design.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The problem: signals do not equal decisions</a:t>
            </a:r>
          </a:p>
          <a:p>
            <a:r>
              <a:t/>
            </a:r>
          </a:p>
          <a:p>
            <a:r>
              <a:t>These are the operational problems the product is designed to address, not measured customer findings. Maintenance teams need to reconcile sensor anomalies, life estimates, urgency and scheduling. Customer interviews and shadow pilots must validate their importance and the expected value.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One product, four connected components</a:t>
            </a:r>
          </a:p>
          <a:p>
            <a:r>
              <a:t/>
            </a:r>
          </a:p>
          <a:p>
            <a:r>
              <a:t>The four research components are implemented as two predictive services (RUL and failure risk), an anomaly and health service, and a maintenance supervisor. The shared FastAPI integration router orchestrates their existing implementations. Do not describe the rule-based combined pre-decision endpoint as the PPO supervisor; the real supervisor is invoked through the supervisor bridge.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Designed around the maintenance engineer</a:t>
            </a:r>
          </a:p>
          <a:p>
            <a:r>
              <a:t/>
            </a:r>
          </a:p>
          <a:p>
            <a:r>
              <a:t>This is the implemented user journey supported by the Upload, Overview, RULPrediction, FailureRisk, HealthMonitoring, AIReasoning and MaintenanceSupervisor frontend pages. The UI reads backend results rather than recomputing predictive outputs in the browser. An engineer acts on the recommendation; no physical aircraft command is sent.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System architecture: evidence to action</a:t>
            </a:r>
          </a:p>
          <a:p>
            <a:r>
              <a:t/>
            </a:r>
          </a:p>
          <a:p>
            <a:r>
              <a:t>Source files: Backend/main.py mounts the component routers; Integration/feature_router.py routes the feature views; rul_failure_batch_service.py creates the RUL and failure-risk exchange CSVs; supervisor_bridge.py merges the upstream outputs and invokes the maintenance supervisor. Forecast inputs and frozen monitoring expectations are kept separate. React/TypeScript is the operator UI, with FastAPI/Python in the backend.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Evidence base: NASA C-MAPSS</a:t>
            </a:r>
          </a:p>
          <a:p>
            <a:r>
              <a:t/>
            </a:r>
          </a:p>
          <a:p>
            <a:r>
              <a:t>The local reader supports FD001–FD004. Input rows contain engine identity, cycle, three operating settings and 21 sensor channels. NASA describes C-MAPSS as simulated turbofan engine data, so do not call this field validation. The reviewed official corpus contains 104,897 input rows and 707 engines. Forecast scoring covers 83,788 ready post-commissioning rows from 690 engines. See Backend/metrics/forecast_target_080.json for exact scoring masks and Backend/app/services/Anomaly_Health_Monitoring/Data_Preprocessing/cmapss_reader.py for parsing. NASA source: https://data.nasa.gov/dataset/c-mapss-aircraft-engine-simulator-data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RUL prediction: how much life remains?</a:t>
            </a:r>
          </a:p>
          <a:p>
            <a:r>
              <a:t/>
            </a:r>
          </a:p>
          <a:p>
            <a:r>
              <a:t>The artifact loader searches per-subset TCN Keras artifacts and supporting scalers. Saved evaluation_metrics.json was generated on 24 August 2026. The deployed-path pooled evaluation uses the final observed window of 627 eligible official test engines; 80 engines are too short for the configured windows. RMSE is in cycles. R² varies considerably by subset. The interval coverage is empirical, not a blanket calibration guarantee. No RUL models were changed by the raw-sensor forecast improvement.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Failure risk: how urgent is the concern?</a:t>
            </a:r>
          </a:p>
          <a:p>
            <a:r>
              <a:t/>
            </a:r>
          </a:p>
          <a:p>
            <a:r>
              <a:t>The failure-risk service loads per-subset BiLSTM artifacts and can use MC dropout for uncertainty. Horizons are operating cycles. Numerical values here are only FD002’s saved metadata, not fleet-wide accuracy: the official test engines were split 50/50 by a seeded permutation, thresholds were fitted on the calibration half, and these scores use the evaluation half. Thresholds were calibrated to prioritize recall where possible. A calibration recall target does not guarantee the same recall on new engines.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Health monitoring: explain the deviation</a:t>
            </a:r>
          </a:p>
          <a:p>
            <a:r>
              <a:t/>
            </a:r>
          </a:p>
          <a:p>
            <a:r>
              <a:t>The health pipeline models operating context, computes residuals from a frozen healthy reference, detects condition changes and generates subsystem explanations. Current config assigns anomaly fusion weight 1.0 to condition_consensus, with other detector weights at zero; do not describe all optional detectors as actively fused. The new adaptive raw-sensor forecast is a separate output using strictly prior sensor readings. It does not replace the frozen anomaly reference. Verification confirmed identical monitoring residuals, anomaly decisions and health indices on all 104,897 official inputs.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Supervisor: recommend the next action</a:t>
            </a:r>
          </a:p>
          <a:p>
            <a:r>
              <a:t/>
            </a:r>
          </a:p>
          <a:p>
            <a:r>
              <a:t>The champion manifest selects PPO. Decision fusion also applies explicit safety policy guardrails and confidence/conflict handling. The five actions are continue_operation, monitor_closely, schedule_inspection, schedule_maintenance and immediate_maintenance. These are software recommendations, not automatic aircraft shutdown controls. Feedback, explanation and counterfactual modules exist; counterfactual numerical changes should not be presented as physically validated control prescriptions.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Operator workspace: one view of the fleet</a:t>
            </a:r>
          </a:p>
          <a:p>
            <a:r>
              <a:t/>
            </a:r>
          </a:p>
          <a:p>
            <a:r>
              <a:t>This is a schematic feature map of implemented frontend pages, not a screenshot or a claim of live production deployment. Overview includes fleet summaries, maintenance queue and drift context. Other routes expose RUL, failure risk, health, anomaly, digital twin, AI reasoning, confidence, reports and settings. Supported backend integration and artifact availability determine what can be displayed.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Measured results: keep the metrics distinct</a:t>
            </a:r>
          </a:p>
          <a:p>
            <a:r>
              <a:t/>
            </a:r>
          </a:p>
          <a:p>
            <a:r>
              <a:t>Raw-sensor values are the new active forecast on the reused official full-trajectory benchmark: 83,788 ready rows, 690 engines. R² is the unchanged mean over informative channels; RMSE and MAE include all 21 normalized raw targets. The healthy-only metric is a separate population and is 0.565393, not the full-trajectory score. Confirmation full-trajectory R² is 0.798732 on a different previously inspected cohort and does not establish official R² 0.8. RUL evaluation is a separate task and cannot be substituted for sensor R². All figures come from saved artifacts, not a new all-product evaluation run.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Supervisor economics: simulation evidence</a:t>
            </a:r>
          </a:p>
          <a:p>
            <a:r>
              <a:t/>
            </a:r>
          </a:p>
          <a:p>
            <a:r>
              <a:t>Source: Backend/reports/Maintenance_Supervisor/policy_evaluation_report.json. The saved report evaluates 28 held-out run-to-failure engines in an offline policy simulator. Champion observed zero catastrophic simulated failures, compared with nine for reactive_tbo_baseline. Rule cascade also had zero failures, so PPO does not demonstrate a safety improvement over that baseline. Cost reduction 78.98% and downtime reduction 68.89% are conditional on simulator action costs and event downtime assumptions. They are not airline savings or field safety evidence. Example action costs include $30 monitoring, $150 inspection, $500 scheduled maintenance and $1,200 immediate maintenance.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What is validated, and what still needs work</a:t>
            </a:r>
          </a:p>
          <a:p>
            <a:r>
              <a:t/>
            </a:r>
          </a:p>
          <a:p>
            <a:r>
              <a:t>The 150 passing tests cover the forecast and related anomaly/health regression suite, not the entire product. The forecast retraining audit reproduces 16,808 development trajectory predictions and confirms the selected training plan and forecast role. Monitoring invariance was verified on 104,897 official inputs. Saved RUL interval coverage PICP is 0.5518 on its pooled endpoint evaluation, so the product cannot claim uniformly calibrated nominal coverage. FD002/FD004 RUL errors are substantially larger than FD001/FD003. Real-fleet transportability, security and operational integration remain pilot work.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From prototype to a deployable pilot</a:t>
            </a:r>
          </a:p>
          <a:p>
            <a:r>
              <a:t/>
            </a:r>
          </a:p>
          <a:p>
            <a:r>
              <a:t>This is a proposed engineering roadmap, not a list of completed security or enterprise integrations. First validate the data contract and deploy in an isolated environment. Then add authentication, access control, secrets management, audit trails, monitoring and CI/CD. CMMS/work-order integration, procurement requirements and aviation assurance need a partner-specific plan. Human approval remains mandatory in the proposed commercial advisory workflow. Forecast latency increased in one 104,897-row audit from 124.61 to 201.29 seconds; optimize throughput and measure target-hardware latency before a live-service commitment.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Evidence used in this presentation</a:t>
            </a:r>
          </a:p>
          <a:p>
            <a:r>
              <a:t/>
            </a:r>
          </a:p>
          <a:p>
            <a:r>
              <a:t>Internal sources are relative to the repository root: Backend/metrics/forecast_target_080.json; Backend/experiments/Anomaly_Health_Monitoring/run_20261016_forecast_080/verified_evaluation.json; Backend/metrics/Predictive_Maintenance/evaluation_metrics.json; Backend/models/Predictive_Maintenance/Failure_Risk/FD002_bilstm_failure_risk_metadata_FINAL.json; Backend/reports/Maintenance_Supervisor/policy_evaluation_report.json; Backend/app/services/Integration; Frontend/src/app/pages. External product pages were checked in October 2026: NASA https://data.nasa.gov/dataset/c-mapss-aircraft-engine-simulator-data ; IBM https://www.ibm.com/products/maximo/asset-performance-management ; Airbus https://www.airbus.com/en/newsroom/news/2017-06-skywise-airline-early-adopter-highlights . The public NASA page describes simulator provenance; channel counts come from the local reader. Competitor product descriptions support positioning only, not a head-to-head benchmark.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Commercialization: start with one buyer</a:t>
            </a:r>
          </a:p>
          <a:p>
            <a:r>
              <a:t/>
            </a:r>
          </a:p>
          <a:p>
            <a:r>
              <a:t>Proposed beachhead: one independent maintenance, repair and overhaul organization or airline reliability team with historical data and an accountable engineer sponsor. No customer, partnership or willingness-to-pay evidence is currently established. Airbus already offers Skywise predictive maintenance and IBM Maximo APM provides enterprise health and predictive workflows. AeroTwin OS should be positioned as a focused advisory pilot, not as the first unified maintenance system or a certified substitute. Local/regional outreach can be tested, but no market size estimate has been invented.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Commercial offer and proposed pricing</a:t>
            </a:r>
          </a:p>
          <a:p>
            <a:r>
              <a:t/>
            </a:r>
          </a:p>
          <a:p>
            <a:r>
              <a:t>All prices are proposed USD assumptions to test in buyer interviews, not a market quote, existing contract or validated willingness to pay. Pilot: $5,000–$15,000 for 8–12 weeks including data assessment and a pilot report. Subscription hypothesis: $1,000 per site/month plus $20 per monitored engine/month. At 50 engines that is $2,000/month or $24,000/year before taxes, bespoke integrations and support. A $10,000 setup assumption is used in the following ROI example. Enterprise terms would depend on data hosting, support, connectors and assurance requirements. No prices are based on competitor pricing.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Go to market through evidence, then expand</a:t>
            </a:r>
          </a:p>
          <a:p>
            <a:r>
              <a:t/>
            </a:r>
          </a:p>
          <a:p>
            <a:r>
              <a:t>Illustrative first-year plan. Months 0–3: interview around ten prospective users, secure one design partner and agree data access, sponsor and baseline. Months 3–6: conduct an 8–12 week shadow pilot; engineers keep authority, measure alerts per 100 operating cycles, actionable alert fraction, lead time, planner effort and independently reviewed intervention opportunities. Compare against the partner’s current process on prospective data. Months 6–12: seek a paid conversion only if the agreed operational, data, security and economic gates pass; then test repeatability with up to two additional partners. These are targets, not existing achievements or guaranteed sales.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Customer ROI: an explicit testable model</a:t>
            </a:r>
          </a:p>
          <a:p>
            <a:r>
              <a:t/>
            </a:r>
          </a:p>
          <a:p>
            <a:r>
              <a:t>This is an illustrative business case, not a claim of measured airline economics. Annual gross benefit = independently verified avoided-event value + planner hours saved × loaded hourly value. Assumptions: two avoided disruption events/year at $25,000 each plus 200 planner hours/year at $50/hour give $60,000. First-year cost is $24,000 subscription for 50 engines plus $10,000 setup, total $34,000. Net modeled benefit $26,000. First-year ROI is ($60,000−$34,000)/$34,000 = 76.47%. Attribution of avoided events is difficult and must be agreed before a pilot, with independent review to avoid crediting events that would not occur. Sensitivity: with zero verified avoided events and only $10,000 labor benefit, the first-year net benefit is negative $24,000. Simulator cost savings are not used as customer ROI inputs.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Commercialization plan: earn the right to scale</a:t>
            </a:r>
          </a:p>
          <a:p>
            <a:r>
              <a:t/>
            </a:r>
          </a:p>
          <a:p>
            <a:r>
              <a:t>End with a practical commercialization ask, not a claim that research metrics prove product-market fit. Secure one design partner and one operational owner; define advisory use and human review; budget engineering, data integration and domain expertise; approve no-go criteria and measured ROI before expanding. Required roles are an ML/backend engineer, a frontend/integration engineer and a domain maintenance sponsor, with security and commercial support as needed. Initial distribution is founder-led/direct partner outreach and a case study with permission. Longer-term channels could include systems integrators or CMMS partners, but no such partnerships exist yet. The objective is a repeatable paid workflow with trusted evidence, not a nominal R² threshold alone.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From engine data to maintenance decisions">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From engine data to maintenance decisions</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Product name: Frontend/src/app/components/Sidebar.tsx | October 2026</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01</a:t>
            </a:r>
            <a:endParaRPr lang="en-US" sz="1000"/>
          </a:p>
        </p:txBody>
      </p:sp>
      <p:sp>
        <p:nvSpPr>
          <p:cNvPr id="9" name="Shape 9"/>
          <p:cNvSpPr/>
          <p:nvPr/>
        </p:nvSpPr>
        <p:spPr>
          <a:xfrm>
            <a:off x="609600" y="1943100"/>
            <a:ext cx="10668000" cy="1143000"/>
          </a:xfrm>
          <a:prstGeom prst="rect">
            <a:avLst/>
          </a:prstGeom>
          <a:noFill/>
          <a:ln>
            <a:noFill/>
          </a:ln>
        </p:spPr>
        <p:txBody>
          <a:bodyPr wrap="none" lIns="0" tIns="0" rIns="0" bIns="0" anchor="t">
            <a:noAutofit/>
          </a:bodyPr>
          <a:lstStyle/>
          <a:p>
            <a:pPr algn="l">
              <a:lnSpc>
                <a:spcPts val="7192"/>
              </a:lnSpc>
              <a:spcAft>
                <a:spcPts val="0"/>
              </a:spcAft>
            </a:pPr>
            <a:r>
              <a:rPr lang="en-US" sz="5800" b="1">
                <a:solidFill>
                  <a:srgbClr val="F2F6FC"/>
                </a:solidFill>
                <a:latin typeface="Arial"/>
              </a:rPr>
              <a:t xml:space="preserve">AeroTwin OS</a:t>
            </a:r>
            <a:endParaRPr lang="en-US" sz="5800"/>
          </a:p>
        </p:txBody>
      </p:sp>
      <p:sp>
        <p:nvSpPr>
          <p:cNvPr id="10" name="Shape 10"/>
          <p:cNvSpPr/>
          <p:nvPr/>
        </p:nvSpPr>
        <p:spPr>
          <a:xfrm>
            <a:off x="635000" y="3187700"/>
            <a:ext cx="10693400" cy="571500"/>
          </a:xfrm>
          <a:prstGeom prst="rect">
            <a:avLst/>
          </a:prstGeom>
          <a:noFill/>
          <a:ln>
            <a:noFill/>
          </a:ln>
        </p:spPr>
        <p:txBody>
          <a:bodyPr wrap="none" lIns="0" tIns="0" rIns="0" bIns="0" anchor="t">
            <a:noAutofit/>
          </a:bodyPr>
          <a:lstStyle/>
          <a:p>
            <a:pPr algn="l">
              <a:lnSpc>
                <a:spcPts val="3348"/>
              </a:lnSpc>
              <a:spcAft>
                <a:spcPts val="0"/>
              </a:spcAft>
            </a:pPr>
            <a:r>
              <a:rPr lang="en-US" sz="2700" b="0">
                <a:solidFill>
                  <a:srgbClr val="40D9CD"/>
                </a:solidFill>
                <a:latin typeface="Arial"/>
              </a:rPr>
              <a:t xml:space="preserve">Autonomous Predictive Maintenance</a:t>
            </a:r>
            <a:endParaRPr lang="en-US" sz="2700"/>
          </a:p>
        </p:txBody>
      </p:sp>
      <p:sp>
        <p:nvSpPr>
          <p:cNvPr id="11" name="Shape 11"/>
          <p:cNvSpPr/>
          <p:nvPr/>
        </p:nvSpPr>
        <p:spPr>
          <a:xfrm>
            <a:off x="635000" y="4051300"/>
            <a:ext cx="9525000" cy="1041400"/>
          </a:xfrm>
          <a:prstGeom prst="rect">
            <a:avLst/>
          </a:prstGeom>
          <a:noFill/>
          <a:ln>
            <a:noFill/>
          </a:ln>
        </p:spPr>
        <p:txBody>
          <a:bodyPr wrap="none" lIns="0" tIns="0" rIns="0" bIns="0" anchor="t">
            <a:noAutofit/>
          </a:bodyPr>
          <a:lstStyle/>
          <a:p>
            <a:pPr algn="l">
              <a:lnSpc>
                <a:spcPts val="2976"/>
              </a:lnSpc>
              <a:spcAft>
                <a:spcPts val="0"/>
              </a:spcAft>
            </a:pPr>
            <a:r>
              <a:rPr lang="en-US" sz="2400" b="0">
                <a:solidFill>
                  <a:srgbClr val="A9B8CC"/>
                </a:solidFill>
                <a:latin typeface="Arial"/>
              </a:rPr>
              <a:t xml:space="preserve">An integrated research prototype for health, remaining life, failure risk</a:t>
            </a:r>
            <a:endParaRPr lang="en-US" sz="2400"/>
          </a:p>
          <a:p>
            <a:pPr algn="l">
              <a:lnSpc>
                <a:spcPts val="2976"/>
              </a:lnSpc>
              <a:spcAft>
                <a:spcPts val="0"/>
              </a:spcAft>
            </a:pPr>
            <a:r>
              <a:rPr lang="en-US" sz="2400" b="0">
                <a:solidFill>
                  <a:srgbClr val="A9B8CC"/>
                </a:solidFill>
                <a:latin typeface="Arial"/>
              </a:rPr>
              <a:t xml:space="preserve">and maintenance prioritization.</a:t>
            </a:r>
            <a:endParaRPr lang="en-US" sz="2400"/>
          </a:p>
        </p:txBody>
      </p:sp>
      <p:sp>
        <p:nvSpPr>
          <p:cNvPr id="12" name="Shape 12"/>
          <p:cNvSpPr/>
          <p:nvPr/>
        </p:nvSpPr>
        <p:spPr>
          <a:xfrm>
            <a:off x="609600" y="5575300"/>
            <a:ext cx="10972800" cy="520700"/>
          </a:xfrm>
          <a:prstGeom prst="roundRect">
            <a:avLst/>
          </a:prstGeom>
          <a:solidFill>
            <a:srgbClr val="142238"/>
          </a:solidFill>
          <a:ln>
            <a:noFill/>
          </a:ln>
        </p:spPr>
      </p:sp>
      <p:sp>
        <p:nvSpPr>
          <p:cNvPr id="13" name="Shape 13"/>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OVERALL PRODUCT / VERIFIED EVIDENCE / COMMERCIALIZATION</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e problem: signals do not equal decisions">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The problem: signals do not equal decisions</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Product problem hypothesis; to validate with maintenance teams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02</a:t>
            </a:r>
            <a:endParaRPr lang="en-US" sz="1000"/>
          </a:p>
        </p:txBody>
      </p:sp>
      <p:sp>
        <p:nvSpPr>
          <p:cNvPr id="9" name="Shape 9"/>
          <p:cNvSpPr/>
          <p:nvPr/>
        </p:nvSpPr>
        <p:spPr>
          <a:xfrm>
            <a:off x="609600" y="1917700"/>
            <a:ext cx="3505200" cy="33909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Fragmented evidence</a:t>
            </a:r>
            <a:endParaRPr lang="en-US" sz="1900"/>
          </a:p>
        </p:txBody>
      </p:sp>
      <p:sp>
        <p:nvSpPr>
          <p:cNvPr id="12" name="Shape 12"/>
          <p:cNvSpPr/>
          <p:nvPr/>
        </p:nvSpPr>
        <p:spPr>
          <a:xfrm>
            <a:off x="8382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Sensor trends, life estimates and</a:t>
            </a:r>
            <a:endParaRPr lang="en-US" sz="1600"/>
          </a:p>
          <a:p>
            <a:pPr algn="l">
              <a:lnSpc>
                <a:spcPts val="1984"/>
              </a:lnSpc>
              <a:spcAft>
                <a:spcPts val="0"/>
              </a:spcAft>
            </a:pPr>
            <a:r>
              <a:rPr lang="en-US" sz="1600" b="0">
                <a:solidFill>
                  <a:srgbClr val="A9B8CC"/>
                </a:solidFill>
                <a:latin typeface="Arial"/>
              </a:rPr>
              <a:t xml:space="preserve">risk scores can point in different</a:t>
            </a:r>
            <a:endParaRPr lang="en-US" sz="1600"/>
          </a:p>
          <a:p>
            <a:pPr algn="l">
              <a:lnSpc>
                <a:spcPts val="1984"/>
              </a:lnSpc>
              <a:spcAft>
                <a:spcPts val="0"/>
              </a:spcAft>
            </a:pPr>
            <a:r>
              <a:rPr lang="en-US" sz="1600" b="0">
                <a:solidFill>
                  <a:srgbClr val="A9B8CC"/>
                </a:solidFill>
                <a:latin typeface="Arial"/>
              </a:rPr>
              <a:t xml:space="preserve">directions.</a:t>
            </a:r>
            <a:endParaRPr lang="en-US" sz="1600"/>
          </a:p>
        </p:txBody>
      </p:sp>
      <p:sp>
        <p:nvSpPr>
          <p:cNvPr id="13" name="Shape 13"/>
          <p:cNvSpPr/>
          <p:nvPr/>
        </p:nvSpPr>
        <p:spPr>
          <a:xfrm>
            <a:off x="4343400" y="1917700"/>
            <a:ext cx="3505200" cy="3390900"/>
          </a:xfrm>
          <a:prstGeom prst="roundRect">
            <a:avLst/>
          </a:prstGeom>
          <a:solidFill>
            <a:srgbClr val="142238"/>
          </a:solidFill>
          <a:ln>
            <a:noFill/>
          </a:ln>
        </p:spPr>
      </p:sp>
      <p:sp>
        <p:nvSpPr>
          <p:cNvPr id="14" name="Shape 14"/>
          <p:cNvSpPr/>
          <p:nvPr/>
        </p:nvSpPr>
        <p:spPr>
          <a:xfrm>
            <a:off x="4572000" y="2159000"/>
            <a:ext cx="406400" cy="38100"/>
          </a:xfrm>
          <a:prstGeom prst="rect">
            <a:avLst/>
          </a:prstGeom>
          <a:solidFill>
            <a:srgbClr val="6FADFF"/>
          </a:solidFill>
          <a:ln>
            <a:noFill/>
          </a:ln>
        </p:spPr>
      </p:sp>
      <p:sp>
        <p:nvSpPr>
          <p:cNvPr id="15" name="Shape 15"/>
          <p:cNvSpPr/>
          <p:nvPr/>
        </p:nvSpPr>
        <p:spPr>
          <a:xfrm>
            <a:off x="45720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Competing priorities</a:t>
            </a:r>
            <a:endParaRPr lang="en-US" sz="1900"/>
          </a:p>
        </p:txBody>
      </p:sp>
      <p:sp>
        <p:nvSpPr>
          <p:cNvPr id="16" name="Shape 16"/>
          <p:cNvSpPr/>
          <p:nvPr/>
        </p:nvSpPr>
        <p:spPr>
          <a:xfrm>
            <a:off x="45720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Early interventions consume</a:t>
            </a:r>
            <a:endParaRPr lang="en-US" sz="1600"/>
          </a:p>
          <a:p>
            <a:pPr algn="l">
              <a:lnSpc>
                <a:spcPts val="1984"/>
              </a:lnSpc>
              <a:spcAft>
                <a:spcPts val="0"/>
              </a:spcAft>
            </a:pPr>
            <a:r>
              <a:rPr lang="en-US" sz="1600" b="0">
                <a:solidFill>
                  <a:srgbClr val="A9B8CC"/>
                </a:solidFill>
                <a:latin typeface="Arial"/>
              </a:rPr>
              <a:t xml:space="preserve">resources; late interventions can</a:t>
            </a:r>
            <a:endParaRPr lang="en-US" sz="1600"/>
          </a:p>
          <a:p>
            <a:pPr algn="l">
              <a:lnSpc>
                <a:spcPts val="1984"/>
              </a:lnSpc>
              <a:spcAft>
                <a:spcPts val="0"/>
              </a:spcAft>
            </a:pPr>
            <a:r>
              <a:rPr lang="en-US" sz="1600" b="0">
                <a:solidFill>
                  <a:srgbClr val="A9B8CC"/>
                </a:solidFill>
                <a:latin typeface="Arial"/>
              </a:rPr>
              <a:t xml:space="preserve">disrupt operations.</a:t>
            </a:r>
            <a:endParaRPr lang="en-US" sz="1600"/>
          </a:p>
        </p:txBody>
      </p:sp>
      <p:sp>
        <p:nvSpPr>
          <p:cNvPr id="17" name="Shape 17"/>
          <p:cNvSpPr/>
          <p:nvPr/>
        </p:nvSpPr>
        <p:spPr>
          <a:xfrm>
            <a:off x="8077200" y="1917700"/>
            <a:ext cx="3505200" cy="3390900"/>
          </a:xfrm>
          <a:prstGeom prst="roundRect">
            <a:avLst/>
          </a:prstGeom>
          <a:solidFill>
            <a:srgbClr val="142238"/>
          </a:solidFill>
          <a:ln>
            <a:noFill/>
          </a:ln>
        </p:spPr>
      </p:sp>
      <p:sp>
        <p:nvSpPr>
          <p:cNvPr id="18" name="Shape 18"/>
          <p:cNvSpPr/>
          <p:nvPr/>
        </p:nvSpPr>
        <p:spPr>
          <a:xfrm>
            <a:off x="8305800" y="2159000"/>
            <a:ext cx="406400" cy="38100"/>
          </a:xfrm>
          <a:prstGeom prst="rect">
            <a:avLst/>
          </a:prstGeom>
          <a:solidFill>
            <a:srgbClr val="F1C56C"/>
          </a:solidFill>
          <a:ln>
            <a:noFill/>
          </a:ln>
        </p:spPr>
      </p:sp>
      <p:sp>
        <p:nvSpPr>
          <p:cNvPr id="19" name="Shape 19"/>
          <p:cNvSpPr/>
          <p:nvPr/>
        </p:nvSpPr>
        <p:spPr>
          <a:xfrm>
            <a:off x="83058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Limited traceability</a:t>
            </a:r>
            <a:endParaRPr lang="en-US" sz="1900"/>
          </a:p>
        </p:txBody>
      </p:sp>
      <p:sp>
        <p:nvSpPr>
          <p:cNvPr id="20" name="Shape 20"/>
          <p:cNvSpPr/>
          <p:nvPr/>
        </p:nvSpPr>
        <p:spPr>
          <a:xfrm>
            <a:off x="83058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A recommendation needs a</a:t>
            </a:r>
            <a:endParaRPr lang="en-US" sz="1600"/>
          </a:p>
          <a:p>
            <a:pPr algn="l">
              <a:lnSpc>
                <a:spcPts val="1984"/>
              </a:lnSpc>
              <a:spcAft>
                <a:spcPts val="0"/>
              </a:spcAft>
            </a:pPr>
            <a:r>
              <a:rPr lang="en-US" sz="1600" b="0">
                <a:solidFill>
                  <a:srgbClr val="A9B8CC"/>
                </a:solidFill>
                <a:latin typeface="Arial"/>
              </a:rPr>
              <a:t xml:space="preserve">reason, a confidence signal and</a:t>
            </a:r>
            <a:endParaRPr lang="en-US" sz="1600"/>
          </a:p>
          <a:p>
            <a:pPr algn="l">
              <a:lnSpc>
                <a:spcPts val="1984"/>
              </a:lnSpc>
              <a:spcAft>
                <a:spcPts val="0"/>
              </a:spcAft>
            </a:pPr>
            <a:r>
              <a:rPr lang="en-US" sz="1600" b="0">
                <a:solidFill>
                  <a:srgbClr val="A9B8CC"/>
                </a:solidFill>
                <a:latin typeface="Arial"/>
              </a:rPr>
              <a:t xml:space="preserve">an engineer review path.</a:t>
            </a:r>
            <a:endParaRPr lang="en-US" sz="16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Product goal: turn separate predictions into a prioritized, explainable work queue.</a:t>
            </a:r>
            <a:endParaRPr 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One product, four connected components">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One product, four connected components</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Backend/main.py; Integration/routes.py; supervisor_bridge.py</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03</a:t>
            </a:r>
            <a:endParaRPr lang="en-US" sz="1000"/>
          </a:p>
        </p:txBody>
      </p:sp>
      <p:sp>
        <p:nvSpPr>
          <p:cNvPr id="9" name="Shape 9"/>
          <p:cNvSpPr/>
          <p:nvPr/>
        </p:nvSpPr>
        <p:spPr>
          <a:xfrm>
            <a:off x="609600" y="1917700"/>
            <a:ext cx="5372100" cy="1600200"/>
          </a:xfrm>
          <a:prstGeom prst="roundRect">
            <a:avLst/>
          </a:prstGeom>
          <a:solidFill>
            <a:srgbClr val="142238"/>
          </a:solidFill>
          <a:ln>
            <a:noFill/>
          </a:ln>
        </p:spPr>
      </p:sp>
      <p:sp>
        <p:nvSpPr>
          <p:cNvPr id="10" name="Shape 10"/>
          <p:cNvSpPr/>
          <p:nvPr/>
        </p:nvSpPr>
        <p:spPr>
          <a:xfrm>
            <a:off x="838200" y="2133600"/>
            <a:ext cx="4914900" cy="3810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01 RUL prediction</a:t>
            </a:r>
            <a:endParaRPr lang="en-US" sz="2000"/>
          </a:p>
        </p:txBody>
      </p:sp>
      <p:sp>
        <p:nvSpPr>
          <p:cNvPr id="11" name="Shape 11"/>
          <p:cNvSpPr/>
          <p:nvPr/>
        </p:nvSpPr>
        <p:spPr>
          <a:xfrm>
            <a:off x="838200" y="2654300"/>
            <a:ext cx="4914900" cy="7239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How much operating life remains?</a:t>
            </a:r>
            <a:endParaRPr lang="en-US" sz="1700"/>
          </a:p>
        </p:txBody>
      </p:sp>
      <p:sp>
        <p:nvSpPr>
          <p:cNvPr id="12" name="Shape 12"/>
          <p:cNvSpPr/>
          <p:nvPr/>
        </p:nvSpPr>
        <p:spPr>
          <a:xfrm>
            <a:off x="6210300" y="1917700"/>
            <a:ext cx="5372100" cy="1600200"/>
          </a:xfrm>
          <a:prstGeom prst="roundRect">
            <a:avLst/>
          </a:prstGeom>
          <a:solidFill>
            <a:srgbClr val="142238"/>
          </a:solidFill>
          <a:ln>
            <a:noFill/>
          </a:ln>
        </p:spPr>
      </p:sp>
      <p:sp>
        <p:nvSpPr>
          <p:cNvPr id="13" name="Shape 13"/>
          <p:cNvSpPr/>
          <p:nvPr/>
        </p:nvSpPr>
        <p:spPr>
          <a:xfrm>
            <a:off x="6438900" y="2133600"/>
            <a:ext cx="4914900" cy="3810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02 Failure risk</a:t>
            </a:r>
            <a:endParaRPr lang="en-US" sz="2000"/>
          </a:p>
        </p:txBody>
      </p:sp>
      <p:sp>
        <p:nvSpPr>
          <p:cNvPr id="14" name="Shape 14"/>
          <p:cNvSpPr/>
          <p:nvPr/>
        </p:nvSpPr>
        <p:spPr>
          <a:xfrm>
            <a:off x="6438900" y="2654300"/>
            <a:ext cx="4914900" cy="7239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How urgent is the risk over 10 / 30 / 50 cycles?</a:t>
            </a:r>
            <a:endParaRPr lang="en-US" sz="1700"/>
          </a:p>
        </p:txBody>
      </p:sp>
      <p:sp>
        <p:nvSpPr>
          <p:cNvPr id="15" name="Shape 15"/>
          <p:cNvSpPr/>
          <p:nvPr/>
        </p:nvSpPr>
        <p:spPr>
          <a:xfrm>
            <a:off x="609600" y="3733800"/>
            <a:ext cx="5372100" cy="1600200"/>
          </a:xfrm>
          <a:prstGeom prst="roundRect">
            <a:avLst/>
          </a:prstGeom>
          <a:solidFill>
            <a:srgbClr val="142238"/>
          </a:solidFill>
          <a:ln>
            <a:noFill/>
          </a:ln>
        </p:spPr>
      </p:sp>
      <p:sp>
        <p:nvSpPr>
          <p:cNvPr id="16" name="Shape 16"/>
          <p:cNvSpPr/>
          <p:nvPr/>
        </p:nvSpPr>
        <p:spPr>
          <a:xfrm>
            <a:off x="838200" y="3949700"/>
            <a:ext cx="4914900" cy="3810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03 Health + anomalies</a:t>
            </a:r>
            <a:endParaRPr lang="en-US" sz="2000"/>
          </a:p>
        </p:txBody>
      </p:sp>
      <p:sp>
        <p:nvSpPr>
          <p:cNvPr id="17" name="Shape 17"/>
          <p:cNvSpPr/>
          <p:nvPr/>
        </p:nvSpPr>
        <p:spPr>
          <a:xfrm>
            <a:off x="838200" y="4470400"/>
            <a:ext cx="4914900" cy="7239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What changed, where, and why?</a:t>
            </a:r>
            <a:endParaRPr lang="en-US" sz="1700"/>
          </a:p>
        </p:txBody>
      </p:sp>
      <p:sp>
        <p:nvSpPr>
          <p:cNvPr id="18" name="Shape 18"/>
          <p:cNvSpPr/>
          <p:nvPr/>
        </p:nvSpPr>
        <p:spPr>
          <a:xfrm>
            <a:off x="6210300" y="3733800"/>
            <a:ext cx="5372100" cy="1600200"/>
          </a:xfrm>
          <a:prstGeom prst="roundRect">
            <a:avLst/>
          </a:prstGeom>
          <a:solidFill>
            <a:srgbClr val="142238"/>
          </a:solidFill>
          <a:ln>
            <a:noFill/>
          </a:ln>
        </p:spPr>
      </p:sp>
      <p:sp>
        <p:nvSpPr>
          <p:cNvPr id="19" name="Shape 19"/>
          <p:cNvSpPr/>
          <p:nvPr/>
        </p:nvSpPr>
        <p:spPr>
          <a:xfrm>
            <a:off x="6438900" y="3949700"/>
            <a:ext cx="4914900" cy="3810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04 Maintenance supervisor</a:t>
            </a:r>
            <a:endParaRPr lang="en-US" sz="2000"/>
          </a:p>
        </p:txBody>
      </p:sp>
      <p:sp>
        <p:nvSpPr>
          <p:cNvPr id="20" name="Shape 20"/>
          <p:cNvSpPr/>
          <p:nvPr/>
        </p:nvSpPr>
        <p:spPr>
          <a:xfrm>
            <a:off x="6438900" y="4470400"/>
            <a:ext cx="4914900" cy="7239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What should the team do next?</a:t>
            </a:r>
            <a:endParaRPr lang="en-US" sz="17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Unified output: a recommended action with priority, confidence and supporting evidence.</a:t>
            </a:r>
            <a:endParaRPr lang="en-US"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signed around the maintenance engineer">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Designed around the maintenance engineer</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Frontend/src/app/pages; Frontend/src/app/routes.tsx</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04</a:t>
            </a:r>
            <a:endParaRPr lang="en-US" sz="1000"/>
          </a:p>
        </p:txBody>
      </p:sp>
      <p:sp>
        <p:nvSpPr>
          <p:cNvPr id="9" name="Shape 9"/>
          <p:cNvSpPr/>
          <p:nvPr/>
        </p:nvSpPr>
        <p:spPr>
          <a:xfrm>
            <a:off x="609600" y="2006600"/>
            <a:ext cx="2552700" cy="2946400"/>
          </a:xfrm>
          <a:prstGeom prst="roundRect">
            <a:avLst/>
          </a:prstGeom>
          <a:solidFill>
            <a:srgbClr val="142238"/>
          </a:solidFill>
          <a:ln>
            <a:noFill/>
          </a:ln>
        </p:spPr>
      </p:sp>
      <p:sp>
        <p:nvSpPr>
          <p:cNvPr id="10" name="Shape 10"/>
          <p:cNvSpPr/>
          <p:nvPr/>
        </p:nvSpPr>
        <p:spPr>
          <a:xfrm>
            <a:off x="838200" y="2197100"/>
            <a:ext cx="2095500" cy="723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1</a:t>
            </a:r>
            <a:endParaRPr lang="en-US" sz="4200"/>
          </a:p>
        </p:txBody>
      </p:sp>
      <p:sp>
        <p:nvSpPr>
          <p:cNvPr id="11" name="Shape 11"/>
          <p:cNvSpPr/>
          <p:nvPr/>
        </p:nvSpPr>
        <p:spPr>
          <a:xfrm>
            <a:off x="838200" y="3048000"/>
            <a:ext cx="2095500" cy="4445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F2F6FC"/>
                </a:solidFill>
                <a:latin typeface="Arial"/>
              </a:rPr>
              <a:t xml:space="preserve">Upload</a:t>
            </a:r>
            <a:endParaRPr lang="en-US" sz="2100"/>
          </a:p>
        </p:txBody>
      </p:sp>
      <p:sp>
        <p:nvSpPr>
          <p:cNvPr id="12" name="Shape 12"/>
          <p:cNvSpPr/>
          <p:nvPr/>
        </p:nvSpPr>
        <p:spPr>
          <a:xfrm>
            <a:off x="838200" y="3657600"/>
            <a:ext cx="2095500" cy="1130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C-MAPSS .txt or</a:t>
            </a:r>
            <a:endParaRPr lang="en-US" sz="1700"/>
          </a:p>
          <a:p>
            <a:pPr algn="l">
              <a:lnSpc>
                <a:spcPts val="2108"/>
              </a:lnSpc>
              <a:spcAft>
                <a:spcPts val="0"/>
              </a:spcAft>
            </a:pPr>
            <a:r>
              <a:rPr lang="en-US" sz="1700" b="0">
                <a:solidFill>
                  <a:srgbClr val="A9B8CC"/>
                </a:solidFill>
                <a:latin typeface="Arial"/>
              </a:rPr>
              <a:t xml:space="preserve">prepared .csv</a:t>
            </a:r>
            <a:endParaRPr lang="en-US" sz="1700"/>
          </a:p>
        </p:txBody>
      </p:sp>
      <p:sp>
        <p:nvSpPr>
          <p:cNvPr id="13" name="Shape 13"/>
          <p:cNvSpPr/>
          <p:nvPr/>
        </p:nvSpPr>
        <p:spPr>
          <a:xfrm>
            <a:off x="3416300" y="2006600"/>
            <a:ext cx="2552700" cy="2946400"/>
          </a:xfrm>
          <a:prstGeom prst="roundRect">
            <a:avLst/>
          </a:prstGeom>
          <a:solidFill>
            <a:srgbClr val="142238"/>
          </a:solidFill>
          <a:ln>
            <a:noFill/>
          </a:ln>
        </p:spPr>
      </p:sp>
      <p:sp>
        <p:nvSpPr>
          <p:cNvPr id="14" name="Shape 14"/>
          <p:cNvSpPr/>
          <p:nvPr/>
        </p:nvSpPr>
        <p:spPr>
          <a:xfrm>
            <a:off x="3644900" y="2197100"/>
            <a:ext cx="2095500" cy="723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2</a:t>
            </a:r>
            <a:endParaRPr lang="en-US" sz="4200"/>
          </a:p>
        </p:txBody>
      </p:sp>
      <p:sp>
        <p:nvSpPr>
          <p:cNvPr id="15" name="Shape 15"/>
          <p:cNvSpPr/>
          <p:nvPr/>
        </p:nvSpPr>
        <p:spPr>
          <a:xfrm>
            <a:off x="3644900" y="3048000"/>
            <a:ext cx="2095500" cy="4445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F2F6FC"/>
                </a:solidFill>
                <a:latin typeface="Arial"/>
              </a:rPr>
              <a:t xml:space="preserve">Analyze</a:t>
            </a:r>
            <a:endParaRPr lang="en-US" sz="2100"/>
          </a:p>
        </p:txBody>
      </p:sp>
      <p:sp>
        <p:nvSpPr>
          <p:cNvPr id="16" name="Shape 16"/>
          <p:cNvSpPr/>
          <p:nvPr/>
        </p:nvSpPr>
        <p:spPr>
          <a:xfrm>
            <a:off x="3644900" y="3657600"/>
            <a:ext cx="2095500" cy="1130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Validate and run the</a:t>
            </a:r>
            <a:endParaRPr lang="en-US" sz="1700"/>
          </a:p>
          <a:p>
            <a:pPr algn="l">
              <a:lnSpc>
                <a:spcPts val="2108"/>
              </a:lnSpc>
              <a:spcAft>
                <a:spcPts val="0"/>
              </a:spcAft>
            </a:pPr>
            <a:r>
              <a:rPr lang="en-US" sz="1700" b="0">
                <a:solidFill>
                  <a:srgbClr val="A9B8CC"/>
                </a:solidFill>
                <a:latin typeface="Arial"/>
              </a:rPr>
              <a:t xml:space="preserve">four components</a:t>
            </a:r>
            <a:endParaRPr lang="en-US" sz="1700"/>
          </a:p>
        </p:txBody>
      </p:sp>
      <p:sp>
        <p:nvSpPr>
          <p:cNvPr id="17" name="Shape 17"/>
          <p:cNvSpPr/>
          <p:nvPr/>
        </p:nvSpPr>
        <p:spPr>
          <a:xfrm>
            <a:off x="6223000" y="2006600"/>
            <a:ext cx="2552700" cy="2946400"/>
          </a:xfrm>
          <a:prstGeom prst="roundRect">
            <a:avLst/>
          </a:prstGeom>
          <a:solidFill>
            <a:srgbClr val="142238"/>
          </a:solidFill>
          <a:ln>
            <a:noFill/>
          </a:ln>
        </p:spPr>
      </p:sp>
      <p:sp>
        <p:nvSpPr>
          <p:cNvPr id="18" name="Shape 18"/>
          <p:cNvSpPr/>
          <p:nvPr/>
        </p:nvSpPr>
        <p:spPr>
          <a:xfrm>
            <a:off x="6451600" y="2197100"/>
            <a:ext cx="2095500" cy="723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3</a:t>
            </a:r>
            <a:endParaRPr lang="en-US" sz="4200"/>
          </a:p>
        </p:txBody>
      </p:sp>
      <p:sp>
        <p:nvSpPr>
          <p:cNvPr id="19" name="Shape 19"/>
          <p:cNvSpPr/>
          <p:nvPr/>
        </p:nvSpPr>
        <p:spPr>
          <a:xfrm>
            <a:off x="6451600" y="3048000"/>
            <a:ext cx="2095500" cy="4445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F2F6FC"/>
                </a:solidFill>
                <a:latin typeface="Arial"/>
              </a:rPr>
              <a:t xml:space="preserve">Review</a:t>
            </a:r>
            <a:endParaRPr lang="en-US" sz="2100"/>
          </a:p>
        </p:txBody>
      </p:sp>
      <p:sp>
        <p:nvSpPr>
          <p:cNvPr id="20" name="Shape 20"/>
          <p:cNvSpPr/>
          <p:nvPr/>
        </p:nvSpPr>
        <p:spPr>
          <a:xfrm>
            <a:off x="6451600" y="3657600"/>
            <a:ext cx="2095500" cy="1130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Compare trends, risk</a:t>
            </a:r>
            <a:endParaRPr lang="en-US" sz="1700"/>
          </a:p>
          <a:p>
            <a:pPr algn="l">
              <a:lnSpc>
                <a:spcPts val="2108"/>
              </a:lnSpc>
              <a:spcAft>
                <a:spcPts val="0"/>
              </a:spcAft>
            </a:pPr>
            <a:r>
              <a:rPr lang="en-US" sz="1700" b="0">
                <a:solidFill>
                  <a:srgbClr val="A9B8CC"/>
                </a:solidFill>
                <a:latin typeface="Arial"/>
              </a:rPr>
              <a:t xml:space="preserve">and explanations</a:t>
            </a:r>
            <a:endParaRPr lang="en-US" sz="1700"/>
          </a:p>
        </p:txBody>
      </p:sp>
      <p:sp>
        <p:nvSpPr>
          <p:cNvPr id="21" name="Shape 21"/>
          <p:cNvSpPr/>
          <p:nvPr/>
        </p:nvSpPr>
        <p:spPr>
          <a:xfrm>
            <a:off x="9029700" y="2006600"/>
            <a:ext cx="2552700" cy="2946400"/>
          </a:xfrm>
          <a:prstGeom prst="roundRect">
            <a:avLst/>
          </a:prstGeom>
          <a:solidFill>
            <a:srgbClr val="142238"/>
          </a:solidFill>
          <a:ln>
            <a:noFill/>
          </a:ln>
        </p:spPr>
      </p:sp>
      <p:sp>
        <p:nvSpPr>
          <p:cNvPr id="22" name="Shape 22"/>
          <p:cNvSpPr/>
          <p:nvPr/>
        </p:nvSpPr>
        <p:spPr>
          <a:xfrm>
            <a:off x="9258300" y="2197100"/>
            <a:ext cx="2095500" cy="723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4</a:t>
            </a:r>
            <a:endParaRPr lang="en-US" sz="4200"/>
          </a:p>
        </p:txBody>
      </p:sp>
      <p:sp>
        <p:nvSpPr>
          <p:cNvPr id="23" name="Shape 23"/>
          <p:cNvSpPr/>
          <p:nvPr/>
        </p:nvSpPr>
        <p:spPr>
          <a:xfrm>
            <a:off x="9258300" y="3048000"/>
            <a:ext cx="2095500" cy="4445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F2F6FC"/>
                </a:solidFill>
                <a:latin typeface="Arial"/>
              </a:rPr>
              <a:t xml:space="preserve">Prioritize</a:t>
            </a:r>
            <a:endParaRPr lang="en-US" sz="2100"/>
          </a:p>
        </p:txBody>
      </p:sp>
      <p:sp>
        <p:nvSpPr>
          <p:cNvPr id="24" name="Shape 24"/>
          <p:cNvSpPr/>
          <p:nvPr/>
        </p:nvSpPr>
        <p:spPr>
          <a:xfrm>
            <a:off x="9258300" y="3657600"/>
            <a:ext cx="2095500" cy="1130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Inspect the</a:t>
            </a:r>
            <a:endParaRPr lang="en-US" sz="1700"/>
          </a:p>
          <a:p>
            <a:pPr algn="l">
              <a:lnSpc>
                <a:spcPts val="2108"/>
              </a:lnSpc>
              <a:spcAft>
                <a:spcPts val="0"/>
              </a:spcAft>
            </a:pPr>
            <a:r>
              <a:rPr lang="en-US" sz="1700" b="0">
                <a:solidFill>
                  <a:srgbClr val="A9B8CC"/>
                </a:solidFill>
                <a:latin typeface="Arial"/>
              </a:rPr>
              <a:t xml:space="preserve">supervisor work</a:t>
            </a:r>
            <a:endParaRPr lang="en-US" sz="1700"/>
          </a:p>
          <a:p>
            <a:pPr algn="l">
              <a:lnSpc>
                <a:spcPts val="2108"/>
              </a:lnSpc>
              <a:spcAft>
                <a:spcPts val="0"/>
              </a:spcAft>
            </a:pPr>
            <a:r>
              <a:rPr lang="en-US" sz="1700" b="0">
                <a:solidFill>
                  <a:srgbClr val="A9B8CC"/>
                </a:solidFill>
                <a:latin typeface="Arial"/>
              </a:rPr>
              <a:t xml:space="preserve">queue</a:t>
            </a:r>
            <a:endParaRPr lang="en-US" sz="1700"/>
          </a:p>
        </p:txBody>
      </p:sp>
      <p:sp>
        <p:nvSpPr>
          <p:cNvPr id="25" name="Shape 25"/>
          <p:cNvSpPr/>
          <p:nvPr/>
        </p:nvSpPr>
        <p:spPr>
          <a:xfrm>
            <a:off x="609600" y="5575300"/>
            <a:ext cx="10972800" cy="520700"/>
          </a:xfrm>
          <a:prstGeom prst="roundRect">
            <a:avLst/>
          </a:prstGeom>
          <a:solidFill>
            <a:srgbClr val="142238"/>
          </a:solidFill>
          <a:ln>
            <a:noFill/>
          </a:ln>
        </p:spPr>
      </p:sp>
      <p:sp>
        <p:nvSpPr>
          <p:cNvPr id="26" name="Shape 26"/>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Feedback and review connect the recommended action to the engineer’s judgement.</a:t>
            </a:r>
            <a:endParaRPr 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ystem architecture: evidence to action">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System architecture: evidence to action</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Backend/app/services/Integration; Backend/main.py; Frontend/package.json</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05</a:t>
            </a:r>
            <a:endParaRPr lang="en-US" sz="1000"/>
          </a:p>
        </p:txBody>
      </p:sp>
      <p:sp>
        <p:nvSpPr>
          <p:cNvPr id="9" name="Shape 9"/>
          <p:cNvSpPr/>
          <p:nvPr/>
        </p:nvSpPr>
        <p:spPr>
          <a:xfrm>
            <a:off x="609600" y="2832100"/>
            <a:ext cx="2540000" cy="1066800"/>
          </a:xfrm>
          <a:prstGeom prst="roundRect">
            <a:avLst/>
          </a:prstGeom>
          <a:solidFill>
            <a:srgbClr val="142238"/>
          </a:solidFill>
          <a:ln>
            <a:noFill/>
          </a:ln>
        </p:spPr>
      </p:sp>
      <p:sp>
        <p:nvSpPr>
          <p:cNvPr id="10" name="Shape 10"/>
          <p:cNvSpPr/>
          <p:nvPr/>
        </p:nvSpPr>
        <p:spPr>
          <a:xfrm>
            <a:off x="812800" y="3035300"/>
            <a:ext cx="2133600" cy="6985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Data upload</a:t>
            </a:r>
            <a:endParaRPr lang="en-US" sz="1800"/>
          </a:p>
          <a:p>
            <a:pPr algn="l">
              <a:lnSpc>
                <a:spcPts val="2232"/>
              </a:lnSpc>
              <a:spcAft>
                <a:spcPts val="0"/>
              </a:spcAft>
            </a:pPr>
            <a:r>
              <a:rPr lang="en-US" sz="1800" b="1">
                <a:solidFill>
                  <a:srgbClr val="F2F6FC"/>
                </a:solidFill>
                <a:latin typeface="Arial"/>
              </a:rPr>
              <a:t xml:space="preserve">Validate + route</a:t>
            </a:r>
            <a:endParaRPr lang="en-US" sz="1800"/>
          </a:p>
        </p:txBody>
      </p:sp>
      <p:sp>
        <p:nvSpPr>
          <p:cNvPr id="11" name="Shape 11"/>
          <p:cNvSpPr/>
          <p:nvPr/>
        </p:nvSpPr>
        <p:spPr>
          <a:xfrm>
            <a:off x="3149600" y="3352800"/>
            <a:ext cx="330200" cy="25400"/>
          </a:xfrm>
          <a:prstGeom prst="rect">
            <a:avLst/>
          </a:prstGeom>
          <a:solidFill>
            <a:srgbClr val="2B3B52"/>
          </a:solidFill>
          <a:ln>
            <a:noFill/>
          </a:ln>
        </p:spPr>
      </p:sp>
      <p:sp>
        <p:nvSpPr>
          <p:cNvPr id="12" name="Shape 12"/>
          <p:cNvSpPr/>
          <p:nvPr/>
        </p:nvSpPr>
        <p:spPr>
          <a:xfrm>
            <a:off x="3454400" y="2247900"/>
            <a:ext cx="25400" cy="2247900"/>
          </a:xfrm>
          <a:prstGeom prst="rect">
            <a:avLst/>
          </a:prstGeom>
          <a:solidFill>
            <a:srgbClr val="2B3B52"/>
          </a:solidFill>
          <a:ln>
            <a:noFill/>
          </a:ln>
        </p:spPr>
      </p:sp>
      <p:sp>
        <p:nvSpPr>
          <p:cNvPr id="13" name="Shape 13"/>
          <p:cNvSpPr/>
          <p:nvPr/>
        </p:nvSpPr>
        <p:spPr>
          <a:xfrm>
            <a:off x="7848600" y="2247900"/>
            <a:ext cx="25400" cy="2247900"/>
          </a:xfrm>
          <a:prstGeom prst="rect">
            <a:avLst/>
          </a:prstGeom>
          <a:solidFill>
            <a:srgbClr val="2B3B52"/>
          </a:solidFill>
          <a:ln>
            <a:noFill/>
          </a:ln>
        </p:spPr>
      </p:sp>
      <p:sp>
        <p:nvSpPr>
          <p:cNvPr id="14" name="Shape 14"/>
          <p:cNvSpPr/>
          <p:nvPr/>
        </p:nvSpPr>
        <p:spPr>
          <a:xfrm>
            <a:off x="3848100" y="1803400"/>
            <a:ext cx="3606800" cy="889000"/>
          </a:xfrm>
          <a:prstGeom prst="roundRect">
            <a:avLst/>
          </a:prstGeom>
          <a:solidFill>
            <a:srgbClr val="142238"/>
          </a:solidFill>
          <a:ln>
            <a:noFill/>
          </a:ln>
        </p:spPr>
      </p:sp>
      <p:sp>
        <p:nvSpPr>
          <p:cNvPr id="15" name="Shape 15"/>
          <p:cNvSpPr/>
          <p:nvPr/>
        </p:nvSpPr>
        <p:spPr>
          <a:xfrm>
            <a:off x="4064000" y="2082800"/>
            <a:ext cx="3175000" cy="4826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40D9CD"/>
                </a:solidFill>
                <a:latin typeface="Arial"/>
              </a:rPr>
              <a:t xml:space="preserve">RUL + uncertainty</a:t>
            </a:r>
            <a:endParaRPr lang="en-US" sz="1800"/>
          </a:p>
        </p:txBody>
      </p:sp>
      <p:sp>
        <p:nvSpPr>
          <p:cNvPr id="16" name="Shape 16"/>
          <p:cNvSpPr/>
          <p:nvPr/>
        </p:nvSpPr>
        <p:spPr>
          <a:xfrm>
            <a:off x="3505200" y="2057400"/>
            <a:ext cx="342900" cy="508000"/>
          </a:xfrm>
          <a:prstGeom prst="rect">
            <a:avLst/>
          </a:prstGeom>
          <a:noFill/>
          <a:ln>
            <a:noFill/>
          </a:ln>
        </p:spPr>
        <p:txBody>
          <a:bodyPr wrap="none" lIns="0" tIns="0" rIns="0" bIns="0" anchor="t">
            <a:noAutofit/>
          </a:bodyPr>
          <a:lstStyle/>
          <a:p>
            <a:pPr algn="l">
              <a:lnSpc>
                <a:spcPts val="3100"/>
              </a:lnSpc>
              <a:spcAft>
                <a:spcPts val="0"/>
              </a:spcAft>
            </a:pPr>
            <a:r>
              <a:rPr lang="en-US" sz="2500" b="0">
                <a:solidFill>
                  <a:srgbClr val="A9B8CC"/>
                </a:solidFill>
                <a:latin typeface="Arial"/>
              </a:rPr>
              <a:t xml:space="preserve">→</a:t>
            </a:r>
            <a:endParaRPr lang="en-US" sz="2500"/>
          </a:p>
        </p:txBody>
      </p:sp>
      <p:sp>
        <p:nvSpPr>
          <p:cNvPr id="17" name="Shape 17"/>
          <p:cNvSpPr/>
          <p:nvPr/>
        </p:nvSpPr>
        <p:spPr>
          <a:xfrm>
            <a:off x="7454900" y="2235200"/>
            <a:ext cx="406400" cy="25400"/>
          </a:xfrm>
          <a:prstGeom prst="rect">
            <a:avLst/>
          </a:prstGeom>
          <a:solidFill>
            <a:srgbClr val="2B3B52"/>
          </a:solidFill>
          <a:ln>
            <a:noFill/>
          </a:ln>
        </p:spPr>
      </p:sp>
      <p:sp>
        <p:nvSpPr>
          <p:cNvPr id="18" name="Shape 18"/>
          <p:cNvSpPr/>
          <p:nvPr/>
        </p:nvSpPr>
        <p:spPr>
          <a:xfrm>
            <a:off x="3848100" y="2921000"/>
            <a:ext cx="3606800" cy="889000"/>
          </a:xfrm>
          <a:prstGeom prst="roundRect">
            <a:avLst/>
          </a:prstGeom>
          <a:solidFill>
            <a:srgbClr val="142238"/>
          </a:solidFill>
          <a:ln>
            <a:noFill/>
          </a:ln>
        </p:spPr>
      </p:sp>
      <p:sp>
        <p:nvSpPr>
          <p:cNvPr id="19" name="Shape 19"/>
          <p:cNvSpPr/>
          <p:nvPr/>
        </p:nvSpPr>
        <p:spPr>
          <a:xfrm>
            <a:off x="4064000" y="3200400"/>
            <a:ext cx="3175000" cy="4826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40D9CD"/>
                </a:solidFill>
                <a:latin typeface="Arial"/>
              </a:rPr>
              <a:t xml:space="preserve">Failure risk 10/30/50</a:t>
            </a:r>
            <a:endParaRPr lang="en-US" sz="1800"/>
          </a:p>
        </p:txBody>
      </p:sp>
      <p:sp>
        <p:nvSpPr>
          <p:cNvPr id="20" name="Shape 20"/>
          <p:cNvSpPr/>
          <p:nvPr/>
        </p:nvSpPr>
        <p:spPr>
          <a:xfrm>
            <a:off x="3505200" y="3175000"/>
            <a:ext cx="342900" cy="508000"/>
          </a:xfrm>
          <a:prstGeom prst="rect">
            <a:avLst/>
          </a:prstGeom>
          <a:noFill/>
          <a:ln>
            <a:noFill/>
          </a:ln>
        </p:spPr>
        <p:txBody>
          <a:bodyPr wrap="none" lIns="0" tIns="0" rIns="0" bIns="0" anchor="t">
            <a:noAutofit/>
          </a:bodyPr>
          <a:lstStyle/>
          <a:p>
            <a:pPr algn="l">
              <a:lnSpc>
                <a:spcPts val="3100"/>
              </a:lnSpc>
              <a:spcAft>
                <a:spcPts val="0"/>
              </a:spcAft>
            </a:pPr>
            <a:r>
              <a:rPr lang="en-US" sz="2500" b="0">
                <a:solidFill>
                  <a:srgbClr val="A9B8CC"/>
                </a:solidFill>
                <a:latin typeface="Arial"/>
              </a:rPr>
              <a:t xml:space="preserve">→</a:t>
            </a:r>
            <a:endParaRPr lang="en-US" sz="2500"/>
          </a:p>
        </p:txBody>
      </p:sp>
      <p:sp>
        <p:nvSpPr>
          <p:cNvPr id="21" name="Shape 21"/>
          <p:cNvSpPr/>
          <p:nvPr/>
        </p:nvSpPr>
        <p:spPr>
          <a:xfrm>
            <a:off x="7454900" y="3352800"/>
            <a:ext cx="406400" cy="25400"/>
          </a:xfrm>
          <a:prstGeom prst="rect">
            <a:avLst/>
          </a:prstGeom>
          <a:solidFill>
            <a:srgbClr val="2B3B52"/>
          </a:solidFill>
          <a:ln>
            <a:noFill/>
          </a:ln>
        </p:spPr>
      </p:sp>
      <p:sp>
        <p:nvSpPr>
          <p:cNvPr id="22" name="Shape 22"/>
          <p:cNvSpPr/>
          <p:nvPr/>
        </p:nvSpPr>
        <p:spPr>
          <a:xfrm>
            <a:off x="3848100" y="4038600"/>
            <a:ext cx="3606800" cy="889000"/>
          </a:xfrm>
          <a:prstGeom prst="roundRect">
            <a:avLst/>
          </a:prstGeom>
          <a:solidFill>
            <a:srgbClr val="142238"/>
          </a:solidFill>
          <a:ln>
            <a:noFill/>
          </a:ln>
        </p:spPr>
      </p:sp>
      <p:sp>
        <p:nvSpPr>
          <p:cNvPr id="23" name="Shape 23"/>
          <p:cNvSpPr/>
          <p:nvPr/>
        </p:nvSpPr>
        <p:spPr>
          <a:xfrm>
            <a:off x="4064000" y="4318000"/>
            <a:ext cx="3175000" cy="4826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40D9CD"/>
                </a:solidFill>
                <a:latin typeface="Arial"/>
              </a:rPr>
              <a:t xml:space="preserve">Anomaly + health</a:t>
            </a:r>
            <a:endParaRPr lang="en-US" sz="1800"/>
          </a:p>
        </p:txBody>
      </p:sp>
      <p:sp>
        <p:nvSpPr>
          <p:cNvPr id="24" name="Shape 24"/>
          <p:cNvSpPr/>
          <p:nvPr/>
        </p:nvSpPr>
        <p:spPr>
          <a:xfrm>
            <a:off x="3505200" y="4292600"/>
            <a:ext cx="342900" cy="508000"/>
          </a:xfrm>
          <a:prstGeom prst="rect">
            <a:avLst/>
          </a:prstGeom>
          <a:noFill/>
          <a:ln>
            <a:noFill/>
          </a:ln>
        </p:spPr>
        <p:txBody>
          <a:bodyPr wrap="none" lIns="0" tIns="0" rIns="0" bIns="0" anchor="t">
            <a:noAutofit/>
          </a:bodyPr>
          <a:lstStyle/>
          <a:p>
            <a:pPr algn="l">
              <a:lnSpc>
                <a:spcPts val="3100"/>
              </a:lnSpc>
              <a:spcAft>
                <a:spcPts val="0"/>
              </a:spcAft>
            </a:pPr>
            <a:r>
              <a:rPr lang="en-US" sz="2500" b="0">
                <a:solidFill>
                  <a:srgbClr val="A9B8CC"/>
                </a:solidFill>
                <a:latin typeface="Arial"/>
              </a:rPr>
              <a:t xml:space="preserve">→</a:t>
            </a:r>
            <a:endParaRPr lang="en-US" sz="2500"/>
          </a:p>
        </p:txBody>
      </p:sp>
      <p:sp>
        <p:nvSpPr>
          <p:cNvPr id="25" name="Shape 25"/>
          <p:cNvSpPr/>
          <p:nvPr/>
        </p:nvSpPr>
        <p:spPr>
          <a:xfrm>
            <a:off x="7454900" y="4470400"/>
            <a:ext cx="406400" cy="25400"/>
          </a:xfrm>
          <a:prstGeom prst="rect">
            <a:avLst/>
          </a:prstGeom>
          <a:solidFill>
            <a:srgbClr val="2B3B52"/>
          </a:solidFill>
          <a:ln>
            <a:noFill/>
          </a:ln>
        </p:spPr>
      </p:sp>
      <p:sp>
        <p:nvSpPr>
          <p:cNvPr id="26" name="Shape 26"/>
          <p:cNvSpPr/>
          <p:nvPr/>
        </p:nvSpPr>
        <p:spPr>
          <a:xfrm>
            <a:off x="8178800" y="2413000"/>
            <a:ext cx="3403600" cy="1320800"/>
          </a:xfrm>
          <a:prstGeom prst="roundRect">
            <a:avLst/>
          </a:prstGeom>
          <a:solidFill>
            <a:srgbClr val="142238"/>
          </a:solidFill>
          <a:ln>
            <a:noFill/>
          </a:ln>
        </p:spPr>
      </p:sp>
      <p:sp>
        <p:nvSpPr>
          <p:cNvPr id="27" name="Shape 27"/>
          <p:cNvSpPr/>
          <p:nvPr/>
        </p:nvSpPr>
        <p:spPr>
          <a:xfrm>
            <a:off x="8394700" y="2654300"/>
            <a:ext cx="2971800" cy="9017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Maintenance supervisor</a:t>
            </a:r>
            <a:endParaRPr lang="en-US" sz="1900"/>
          </a:p>
          <a:p>
            <a:pPr algn="l">
              <a:lnSpc>
                <a:spcPts val="2356"/>
              </a:lnSpc>
              <a:spcAft>
                <a:spcPts val="0"/>
              </a:spcAft>
            </a:pPr>
            <a:r>
              <a:rPr lang="en-US" sz="1900" b="1">
                <a:solidFill>
                  <a:srgbClr val="F2F6FC"/>
                </a:solidFill>
                <a:latin typeface="Arial"/>
              </a:rPr>
              <a:t xml:space="preserve">PPO + policy guardrails</a:t>
            </a:r>
            <a:endParaRPr lang="en-US" sz="1900"/>
          </a:p>
        </p:txBody>
      </p:sp>
      <p:sp>
        <p:nvSpPr>
          <p:cNvPr id="28" name="Shape 28"/>
          <p:cNvSpPr/>
          <p:nvPr/>
        </p:nvSpPr>
        <p:spPr>
          <a:xfrm>
            <a:off x="7874000" y="2819400"/>
            <a:ext cx="304800" cy="508000"/>
          </a:xfrm>
          <a:prstGeom prst="rect">
            <a:avLst/>
          </a:prstGeom>
          <a:noFill/>
          <a:ln>
            <a:noFill/>
          </a:ln>
        </p:spPr>
        <p:txBody>
          <a:bodyPr wrap="none" lIns="0" tIns="0" rIns="0" bIns="0" anchor="t">
            <a:noAutofit/>
          </a:bodyPr>
          <a:lstStyle/>
          <a:p>
            <a:pPr algn="l">
              <a:lnSpc>
                <a:spcPts val="3100"/>
              </a:lnSpc>
              <a:spcAft>
                <a:spcPts val="0"/>
              </a:spcAft>
            </a:pPr>
            <a:r>
              <a:rPr lang="en-US" sz="2500" b="0">
                <a:solidFill>
                  <a:srgbClr val="A9B8CC"/>
                </a:solidFill>
                <a:latin typeface="Arial"/>
              </a:rPr>
              <a:t xml:space="preserve">→</a:t>
            </a:r>
            <a:endParaRPr lang="en-US" sz="2500"/>
          </a:p>
        </p:txBody>
      </p:sp>
      <p:sp>
        <p:nvSpPr>
          <p:cNvPr id="29" name="Shape 29"/>
          <p:cNvSpPr/>
          <p:nvPr/>
        </p:nvSpPr>
        <p:spPr>
          <a:xfrm>
            <a:off x="8178800" y="4229100"/>
            <a:ext cx="3403600" cy="952500"/>
          </a:xfrm>
          <a:prstGeom prst="roundRect">
            <a:avLst/>
          </a:prstGeom>
          <a:solidFill>
            <a:srgbClr val="142238"/>
          </a:solidFill>
          <a:ln>
            <a:noFill/>
          </a:ln>
        </p:spPr>
      </p:sp>
      <p:sp>
        <p:nvSpPr>
          <p:cNvPr id="30" name="Shape 30"/>
          <p:cNvSpPr/>
          <p:nvPr/>
        </p:nvSpPr>
        <p:spPr>
          <a:xfrm>
            <a:off x="8382000" y="4381500"/>
            <a:ext cx="2997200" cy="711200"/>
          </a:xfrm>
          <a:prstGeom prst="rect">
            <a:avLst/>
          </a:prstGeom>
          <a:noFill/>
          <a:ln>
            <a:noFill/>
          </a:ln>
        </p:spPr>
        <p:txBody>
          <a:bodyPr wrap="none" lIns="0" tIns="0" rIns="0" bIns="0" anchor="t">
            <a:noAutofit/>
          </a:bodyPr>
          <a:lstStyle/>
          <a:p>
            <a:pPr algn="l">
              <a:lnSpc>
                <a:spcPts val="2108"/>
              </a:lnSpc>
              <a:spcAft>
                <a:spcPts val="0"/>
              </a:spcAft>
            </a:pPr>
            <a:r>
              <a:rPr lang="en-US" sz="1700" b="1">
                <a:solidFill>
                  <a:srgbClr val="F2F6FC"/>
                </a:solidFill>
                <a:latin typeface="Arial"/>
              </a:rPr>
              <a:t xml:space="preserve">Operator dashboard</a:t>
            </a:r>
            <a:endParaRPr lang="en-US" sz="1700"/>
          </a:p>
          <a:p>
            <a:pPr algn="l">
              <a:lnSpc>
                <a:spcPts val="2108"/>
              </a:lnSpc>
              <a:spcAft>
                <a:spcPts val="0"/>
              </a:spcAft>
            </a:pPr>
            <a:r>
              <a:rPr lang="en-US" sz="1700" b="1">
                <a:solidFill>
                  <a:srgbClr val="F2F6FC"/>
                </a:solidFill>
                <a:latin typeface="Arial"/>
              </a:rPr>
              <a:t xml:space="preserve">Queue, reasoning, feedback</a:t>
            </a:r>
            <a:endParaRPr lang="en-US" sz="1700"/>
          </a:p>
        </p:txBody>
      </p:sp>
      <p:sp>
        <p:nvSpPr>
          <p:cNvPr id="31" name="Shape 31"/>
          <p:cNvSpPr/>
          <p:nvPr/>
        </p:nvSpPr>
        <p:spPr>
          <a:xfrm>
            <a:off x="9575800" y="3784600"/>
            <a:ext cx="508000" cy="406400"/>
          </a:xfrm>
          <a:prstGeom prst="rect">
            <a:avLst/>
          </a:prstGeom>
          <a:noFill/>
          <a:ln>
            <a:noFill/>
          </a:ln>
        </p:spPr>
        <p:txBody>
          <a:bodyPr wrap="none" lIns="0" tIns="0" rIns="0" bIns="0" anchor="t">
            <a:noAutofit/>
          </a:bodyPr>
          <a:lstStyle/>
          <a:p>
            <a:pPr algn="l">
              <a:lnSpc>
                <a:spcPts val="2728"/>
              </a:lnSpc>
              <a:spcAft>
                <a:spcPts val="0"/>
              </a:spcAft>
            </a:pPr>
            <a:r>
              <a:rPr lang="en-US" sz="2200" b="0">
                <a:solidFill>
                  <a:srgbClr val="A9B8CC"/>
                </a:solidFill>
                <a:latin typeface="Arial"/>
              </a:rPr>
              <a:t xml:space="preserve">↓</a:t>
            </a:r>
            <a:endParaRPr lang="en-US" sz="2200"/>
          </a:p>
        </p:txBody>
      </p:sp>
      <p:sp>
        <p:nvSpPr>
          <p:cNvPr id="32" name="Shape 32"/>
          <p:cNvSpPr/>
          <p:nvPr/>
        </p:nvSpPr>
        <p:spPr>
          <a:xfrm>
            <a:off x="609600" y="5575300"/>
            <a:ext cx="10972800" cy="520700"/>
          </a:xfrm>
          <a:prstGeom prst="roundRect">
            <a:avLst/>
          </a:prstGeom>
          <a:solidFill>
            <a:srgbClr val="142238"/>
          </a:solidFill>
          <a:ln>
            <a:noFill/>
          </a:ln>
        </p:spPr>
      </p:sp>
      <p:sp>
        <p:nvSpPr>
          <p:cNvPr id="33" name="Shape 33"/>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React + TypeScript UI | FastAPI services | Model artifacts + CSV/JSON exchange</a:t>
            </a:r>
            <a:endParaRPr 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Evidence base: NASA C-MAPSS">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Evidence base: NASA C-MAPSS</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Local C-MAPSS reader + forecast_target_080.json; NASA C-MAPSS documentation</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06</a:t>
            </a:r>
            <a:endParaRPr lang="en-US" sz="1000"/>
          </a:p>
        </p:txBody>
      </p:sp>
      <p:sp>
        <p:nvSpPr>
          <p:cNvPr id="9" name="Shape 9"/>
          <p:cNvSpPr/>
          <p:nvPr/>
        </p:nvSpPr>
        <p:spPr>
          <a:xfrm>
            <a:off x="609600" y="1943100"/>
            <a:ext cx="3505200" cy="1739900"/>
          </a:xfrm>
          <a:prstGeom prst="roundRect">
            <a:avLst/>
          </a:prstGeom>
          <a:solidFill>
            <a:srgbClr val="142238"/>
          </a:solidFill>
          <a:ln>
            <a:noFill/>
          </a:ln>
        </p:spPr>
      </p:sp>
      <p:sp>
        <p:nvSpPr>
          <p:cNvPr id="10" name="Shape 10"/>
          <p:cNvSpPr/>
          <p:nvPr/>
        </p:nvSpPr>
        <p:spPr>
          <a:xfrm>
            <a:off x="838200" y="2171700"/>
            <a:ext cx="3048000" cy="838200"/>
          </a:xfrm>
          <a:prstGeom prst="rect">
            <a:avLst/>
          </a:prstGeom>
          <a:noFill/>
          <a:ln>
            <a:noFill/>
          </a:ln>
        </p:spPr>
        <p:txBody>
          <a:bodyPr wrap="none" lIns="0" tIns="0" rIns="0" bIns="0" anchor="t">
            <a:noAutofit/>
          </a:bodyPr>
          <a:lstStyle/>
          <a:p>
            <a:pPr algn="l">
              <a:lnSpc>
                <a:spcPts val="5952"/>
              </a:lnSpc>
              <a:spcAft>
                <a:spcPts val="0"/>
              </a:spcAft>
            </a:pPr>
            <a:r>
              <a:rPr lang="en-US" sz="4800" b="1">
                <a:solidFill>
                  <a:srgbClr val="40D9CD"/>
                </a:solidFill>
                <a:latin typeface="Arial"/>
              </a:rPr>
              <a:t xml:space="preserve">4</a:t>
            </a:r>
            <a:endParaRPr lang="en-US" sz="4800"/>
          </a:p>
        </p:txBody>
      </p:sp>
      <p:sp>
        <p:nvSpPr>
          <p:cNvPr id="11" name="Shape 11"/>
          <p:cNvSpPr/>
          <p:nvPr/>
        </p:nvSpPr>
        <p:spPr>
          <a:xfrm>
            <a:off x="838200" y="3136900"/>
            <a:ext cx="3048000" cy="381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C-MAPSS subsets</a:t>
            </a:r>
            <a:endParaRPr lang="en-US" sz="1700"/>
          </a:p>
        </p:txBody>
      </p:sp>
      <p:sp>
        <p:nvSpPr>
          <p:cNvPr id="12" name="Shape 12"/>
          <p:cNvSpPr/>
          <p:nvPr/>
        </p:nvSpPr>
        <p:spPr>
          <a:xfrm>
            <a:off x="4343400" y="1943100"/>
            <a:ext cx="3505200" cy="1739900"/>
          </a:xfrm>
          <a:prstGeom prst="roundRect">
            <a:avLst/>
          </a:prstGeom>
          <a:solidFill>
            <a:srgbClr val="142238"/>
          </a:solidFill>
          <a:ln>
            <a:noFill/>
          </a:ln>
        </p:spPr>
      </p:sp>
      <p:sp>
        <p:nvSpPr>
          <p:cNvPr id="13" name="Shape 13"/>
          <p:cNvSpPr/>
          <p:nvPr/>
        </p:nvSpPr>
        <p:spPr>
          <a:xfrm>
            <a:off x="4572000" y="2171700"/>
            <a:ext cx="3048000" cy="838200"/>
          </a:xfrm>
          <a:prstGeom prst="rect">
            <a:avLst/>
          </a:prstGeom>
          <a:noFill/>
          <a:ln>
            <a:noFill/>
          </a:ln>
        </p:spPr>
        <p:txBody>
          <a:bodyPr wrap="none" lIns="0" tIns="0" rIns="0" bIns="0" anchor="t">
            <a:noAutofit/>
          </a:bodyPr>
          <a:lstStyle/>
          <a:p>
            <a:pPr algn="l">
              <a:lnSpc>
                <a:spcPts val="5952"/>
              </a:lnSpc>
              <a:spcAft>
                <a:spcPts val="0"/>
              </a:spcAft>
            </a:pPr>
            <a:r>
              <a:rPr lang="en-US" sz="4800" b="1">
                <a:solidFill>
                  <a:srgbClr val="40D9CD"/>
                </a:solidFill>
                <a:latin typeface="Arial"/>
              </a:rPr>
              <a:t xml:space="preserve">21</a:t>
            </a:r>
            <a:endParaRPr lang="en-US" sz="4800"/>
          </a:p>
        </p:txBody>
      </p:sp>
      <p:sp>
        <p:nvSpPr>
          <p:cNvPr id="14" name="Shape 14"/>
          <p:cNvSpPr/>
          <p:nvPr/>
        </p:nvSpPr>
        <p:spPr>
          <a:xfrm>
            <a:off x="4572000" y="3136900"/>
            <a:ext cx="3048000" cy="381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Sensor channels</a:t>
            </a:r>
            <a:endParaRPr lang="en-US" sz="1700"/>
          </a:p>
        </p:txBody>
      </p:sp>
      <p:sp>
        <p:nvSpPr>
          <p:cNvPr id="15" name="Shape 15"/>
          <p:cNvSpPr/>
          <p:nvPr/>
        </p:nvSpPr>
        <p:spPr>
          <a:xfrm>
            <a:off x="8077200" y="1943100"/>
            <a:ext cx="3505200" cy="1739900"/>
          </a:xfrm>
          <a:prstGeom prst="roundRect">
            <a:avLst/>
          </a:prstGeom>
          <a:solidFill>
            <a:srgbClr val="142238"/>
          </a:solidFill>
          <a:ln>
            <a:noFill/>
          </a:ln>
        </p:spPr>
      </p:sp>
      <p:sp>
        <p:nvSpPr>
          <p:cNvPr id="16" name="Shape 16"/>
          <p:cNvSpPr/>
          <p:nvPr/>
        </p:nvSpPr>
        <p:spPr>
          <a:xfrm>
            <a:off x="8305800" y="2171700"/>
            <a:ext cx="3048000" cy="838200"/>
          </a:xfrm>
          <a:prstGeom prst="rect">
            <a:avLst/>
          </a:prstGeom>
          <a:noFill/>
          <a:ln>
            <a:noFill/>
          </a:ln>
        </p:spPr>
        <p:txBody>
          <a:bodyPr wrap="none" lIns="0" tIns="0" rIns="0" bIns="0" anchor="t">
            <a:noAutofit/>
          </a:bodyPr>
          <a:lstStyle/>
          <a:p>
            <a:pPr algn="l">
              <a:lnSpc>
                <a:spcPts val="5952"/>
              </a:lnSpc>
              <a:spcAft>
                <a:spcPts val="0"/>
              </a:spcAft>
            </a:pPr>
            <a:r>
              <a:rPr lang="en-US" sz="4800" b="1">
                <a:solidFill>
                  <a:srgbClr val="40D9CD"/>
                </a:solidFill>
                <a:latin typeface="Arial"/>
              </a:rPr>
              <a:t xml:space="preserve">3</a:t>
            </a:r>
            <a:endParaRPr lang="en-US" sz="4800"/>
          </a:p>
        </p:txBody>
      </p:sp>
      <p:sp>
        <p:nvSpPr>
          <p:cNvPr id="17" name="Shape 17"/>
          <p:cNvSpPr/>
          <p:nvPr/>
        </p:nvSpPr>
        <p:spPr>
          <a:xfrm>
            <a:off x="8305800" y="3136900"/>
            <a:ext cx="3048000" cy="381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Operating settings</a:t>
            </a:r>
            <a:endParaRPr lang="en-US" sz="1700"/>
          </a:p>
        </p:txBody>
      </p:sp>
      <p:sp>
        <p:nvSpPr>
          <p:cNvPr id="18" name="Shape 18"/>
          <p:cNvSpPr/>
          <p:nvPr/>
        </p:nvSpPr>
        <p:spPr>
          <a:xfrm>
            <a:off x="609600" y="4089400"/>
            <a:ext cx="10972800" cy="609600"/>
          </a:xfrm>
          <a:prstGeom prst="rect">
            <a:avLst/>
          </a:prstGeom>
          <a:noFill/>
          <a:ln>
            <a:noFill/>
          </a:ln>
        </p:spPr>
        <p:txBody>
          <a:bodyPr wrap="none" lIns="0" tIns="0" rIns="0" bIns="0" anchor="t">
            <a:noAutofit/>
          </a:bodyPr>
          <a:lstStyle/>
          <a:p>
            <a:pPr algn="l">
              <a:lnSpc>
                <a:spcPts val="2852"/>
              </a:lnSpc>
              <a:spcAft>
                <a:spcPts val="0"/>
              </a:spcAft>
            </a:pPr>
            <a:r>
              <a:rPr lang="en-US" sz="2300" b="1">
                <a:solidFill>
                  <a:srgbClr val="F2F6FC"/>
                </a:solidFill>
                <a:latin typeface="Arial"/>
              </a:rPr>
              <a:t xml:space="preserve">Simulated engine trajectories; operating cycles are not hours.</a:t>
            </a:r>
            <a:endParaRPr lang="en-US" sz="2300"/>
          </a:p>
        </p:txBody>
      </p:sp>
      <p:sp>
        <p:nvSpPr>
          <p:cNvPr id="19" name="Shape 19"/>
          <p:cNvSpPr/>
          <p:nvPr/>
        </p:nvSpPr>
        <p:spPr>
          <a:xfrm>
            <a:off x="609600" y="4864100"/>
            <a:ext cx="10795000" cy="749300"/>
          </a:xfrm>
          <a:prstGeom prst="rect">
            <a:avLst/>
          </a:prstGeom>
          <a:noFill/>
          <a:ln>
            <a:noFill/>
          </a:ln>
        </p:spPr>
        <p:txBody>
          <a:bodyPr wrap="none" lIns="0" tIns="0" rIns="0" bIns="0" anchor="t">
            <a:noAutofit/>
          </a:bodyPr>
          <a:lstStyle/>
          <a:p>
            <a:pPr algn="l">
              <a:lnSpc>
                <a:spcPts val="2480"/>
              </a:lnSpc>
              <a:spcAft>
                <a:spcPts val="0"/>
              </a:spcAft>
            </a:pPr>
            <a:r>
              <a:rPr lang="en-US" sz="2000" b="0">
                <a:solidFill>
                  <a:srgbClr val="A9B8CC"/>
                </a:solidFill>
                <a:latin typeface="Arial"/>
              </a:rPr>
              <a:t xml:space="preserve">Validation is retrospective. Real fleet data, maintenance outcomes and prospective testing are</a:t>
            </a:r>
            <a:endParaRPr lang="en-US" sz="2000"/>
          </a:p>
          <a:p>
            <a:pPr algn="l">
              <a:lnSpc>
                <a:spcPts val="2480"/>
              </a:lnSpc>
              <a:spcAft>
                <a:spcPts val="0"/>
              </a:spcAft>
            </a:pPr>
            <a:r>
              <a:rPr lang="en-US" sz="2000" b="0">
                <a:solidFill>
                  <a:srgbClr val="A9B8CC"/>
                </a:solidFill>
                <a:latin typeface="Arial"/>
              </a:rPr>
              <a:t xml:space="preserve">still needed.</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RUL prediction: how much life remains?">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RUL prediction: how much life remains?</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Predictive_Maintenance/rul_lifecycle_service.py; saved evaluation_metrics.json</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07</a:t>
            </a:r>
            <a:endParaRPr lang="en-US" sz="1000"/>
          </a:p>
        </p:txBody>
      </p:sp>
      <p:sp>
        <p:nvSpPr>
          <p:cNvPr id="9" name="Shape 9"/>
          <p:cNvSpPr/>
          <p:nvPr/>
        </p:nvSpPr>
        <p:spPr>
          <a:xfrm>
            <a:off x="609600" y="1917700"/>
            <a:ext cx="5194300" cy="33655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47371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Implemented output</a:t>
            </a:r>
            <a:endParaRPr lang="en-US" sz="1900"/>
          </a:p>
        </p:txBody>
      </p:sp>
      <p:sp>
        <p:nvSpPr>
          <p:cNvPr id="12" name="Shape 12"/>
          <p:cNvSpPr/>
          <p:nvPr/>
        </p:nvSpPr>
        <p:spPr>
          <a:xfrm>
            <a:off x="838200" y="3213100"/>
            <a:ext cx="4737100" cy="19050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Temporal life estimate, degradation trajectory,</a:t>
            </a:r>
            <a:endParaRPr lang="en-US" sz="1800"/>
          </a:p>
          <a:p>
            <a:pPr algn="l">
              <a:lnSpc>
                <a:spcPts val="2232"/>
              </a:lnSpc>
              <a:spcAft>
                <a:spcPts val="0"/>
              </a:spcAft>
            </a:pPr>
            <a:r>
              <a:rPr lang="en-US" sz="1800" b="0">
                <a:solidFill>
                  <a:srgbClr val="A9B8CC"/>
                </a:solidFill>
                <a:latin typeface="Arial"/>
              </a:rPr>
              <a:t xml:space="preserve">lifecycle state and prediction interval.</a:t>
            </a:r>
            <a:endParaRPr lang="en-US" sz="1800"/>
          </a:p>
        </p:txBody>
      </p:sp>
      <p:sp>
        <p:nvSpPr>
          <p:cNvPr id="13" name="Shape 13"/>
          <p:cNvSpPr/>
          <p:nvPr/>
        </p:nvSpPr>
        <p:spPr>
          <a:xfrm>
            <a:off x="6057900" y="1917700"/>
            <a:ext cx="5524500" cy="3365500"/>
          </a:xfrm>
          <a:prstGeom prst="roundRect">
            <a:avLst/>
          </a:prstGeom>
          <a:solidFill>
            <a:srgbClr val="142238"/>
          </a:solidFill>
          <a:ln>
            <a:noFill/>
          </a:ln>
        </p:spPr>
      </p:sp>
      <p:sp>
        <p:nvSpPr>
          <p:cNvPr id="14" name="Shape 14"/>
          <p:cNvSpPr/>
          <p:nvPr/>
        </p:nvSpPr>
        <p:spPr>
          <a:xfrm>
            <a:off x="6286500" y="2159000"/>
            <a:ext cx="406400" cy="38100"/>
          </a:xfrm>
          <a:prstGeom prst="rect">
            <a:avLst/>
          </a:prstGeom>
          <a:solidFill>
            <a:srgbClr val="6FADFF"/>
          </a:solidFill>
          <a:ln>
            <a:noFill/>
          </a:ln>
        </p:spPr>
      </p:sp>
      <p:sp>
        <p:nvSpPr>
          <p:cNvPr id="15" name="Shape 15"/>
          <p:cNvSpPr/>
          <p:nvPr/>
        </p:nvSpPr>
        <p:spPr>
          <a:xfrm>
            <a:off x="6286500" y="2349500"/>
            <a:ext cx="50673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Where it helps</a:t>
            </a:r>
            <a:endParaRPr lang="en-US" sz="1900"/>
          </a:p>
        </p:txBody>
      </p:sp>
      <p:sp>
        <p:nvSpPr>
          <p:cNvPr id="16" name="Shape 16"/>
          <p:cNvSpPr/>
          <p:nvPr/>
        </p:nvSpPr>
        <p:spPr>
          <a:xfrm>
            <a:off x="6286500" y="3213100"/>
            <a:ext cx="5067300" cy="19050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Supports inspection planning and highlights</a:t>
            </a:r>
            <a:endParaRPr lang="en-US" sz="1800"/>
          </a:p>
          <a:p>
            <a:pPr algn="l">
              <a:lnSpc>
                <a:spcPts val="2232"/>
              </a:lnSpc>
              <a:spcAft>
                <a:spcPts val="0"/>
              </a:spcAft>
            </a:pPr>
            <a:r>
              <a:rPr lang="en-US" sz="1800" b="0">
                <a:solidFill>
                  <a:srgbClr val="A9B8CC"/>
                </a:solidFill>
                <a:latin typeface="Arial"/>
              </a:rPr>
              <a:t xml:space="preserve">accelerating or unstable degradation. Engineers</a:t>
            </a:r>
            <a:endParaRPr lang="en-US" sz="1800"/>
          </a:p>
          <a:p>
            <a:pPr algn="l">
              <a:lnSpc>
                <a:spcPts val="2232"/>
              </a:lnSpc>
              <a:spcAft>
                <a:spcPts val="0"/>
              </a:spcAft>
            </a:pPr>
            <a:r>
              <a:rPr lang="en-US" sz="1800" b="0">
                <a:solidFill>
                  <a:srgbClr val="A9B8CC"/>
                </a:solidFill>
                <a:latin typeface="Arial"/>
              </a:rPr>
              <a:t xml:space="preserve">see the estimate alongside risk and health.</a:t>
            </a:r>
            <a:endParaRPr lang="en-US" sz="1800"/>
          </a:p>
        </p:txBody>
      </p:sp>
      <p:sp>
        <p:nvSpPr>
          <p:cNvPr id="17" name="Shape 17"/>
          <p:cNvSpPr/>
          <p:nvPr/>
        </p:nvSpPr>
        <p:spPr>
          <a:xfrm>
            <a:off x="609600" y="5575300"/>
            <a:ext cx="10972800" cy="520700"/>
          </a:xfrm>
          <a:prstGeom prst="roundRect">
            <a:avLst/>
          </a:prstGeom>
          <a:solidFill>
            <a:srgbClr val="142238"/>
          </a:solidFill>
          <a:ln>
            <a:noFill/>
          </a:ln>
        </p:spPr>
      </p:sp>
      <p:sp>
        <p:nvSpPr>
          <p:cNvPr id="18" name="Shape 18"/>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Saved pooled evaluation: R² 0.3954 | RMSE 37.69 cycles | 627 engines</a:t>
            </a:r>
            <a:endParaRPr 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Failure risk: how urgent is the concern?">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Failure risk: how urgent is the concern?</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Failure_Risk FD002 metadata FINAL; failure_risk_service.py</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08</a:t>
            </a:r>
            <a:endParaRPr lang="en-US" sz="1000"/>
          </a:p>
        </p:txBody>
      </p:sp>
      <p:sp>
        <p:nvSpPr>
          <p:cNvPr id="9" name="Shape 9"/>
          <p:cNvSpPr/>
          <p:nvPr/>
        </p:nvSpPr>
        <p:spPr>
          <a:xfrm>
            <a:off x="609600" y="1905000"/>
            <a:ext cx="10972800" cy="774700"/>
          </a:xfrm>
          <a:prstGeom prst="rect">
            <a:avLst/>
          </a:prstGeom>
          <a:solidFill>
            <a:srgbClr val="2B3B52"/>
          </a:solidFill>
          <a:ln>
            <a:noFill/>
          </a:ln>
        </p:spPr>
      </p:sp>
      <p:sp>
        <p:nvSpPr>
          <p:cNvPr id="10" name="Shape 10"/>
          <p:cNvSpPr/>
          <p:nvPr/>
        </p:nvSpPr>
        <p:spPr>
          <a:xfrm>
            <a:off x="762000" y="2057400"/>
            <a:ext cx="1600200" cy="584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Horizon</a:t>
            </a:r>
            <a:endParaRPr lang="en-US" sz="1500"/>
          </a:p>
        </p:txBody>
      </p:sp>
      <p:sp>
        <p:nvSpPr>
          <p:cNvPr id="11" name="Shape 11"/>
          <p:cNvSpPr/>
          <p:nvPr/>
        </p:nvSpPr>
        <p:spPr>
          <a:xfrm>
            <a:off x="2667000" y="2057400"/>
            <a:ext cx="3378200" cy="584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Decision context</a:t>
            </a:r>
            <a:endParaRPr lang="en-US" sz="1500"/>
          </a:p>
        </p:txBody>
      </p:sp>
      <p:sp>
        <p:nvSpPr>
          <p:cNvPr id="12" name="Shape 12"/>
          <p:cNvSpPr/>
          <p:nvPr/>
        </p:nvSpPr>
        <p:spPr>
          <a:xfrm>
            <a:off x="6350000" y="2057400"/>
            <a:ext cx="2387600" cy="584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Saved FD002 F1</a:t>
            </a:r>
            <a:endParaRPr lang="en-US" sz="1500"/>
          </a:p>
        </p:txBody>
      </p:sp>
      <p:sp>
        <p:nvSpPr>
          <p:cNvPr id="13" name="Shape 13"/>
          <p:cNvSpPr/>
          <p:nvPr/>
        </p:nvSpPr>
        <p:spPr>
          <a:xfrm>
            <a:off x="9042400" y="2057400"/>
            <a:ext cx="2387600" cy="584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Saved recall</a:t>
            </a:r>
            <a:endParaRPr lang="en-US" sz="1500"/>
          </a:p>
        </p:txBody>
      </p:sp>
      <p:sp>
        <p:nvSpPr>
          <p:cNvPr id="14" name="Shape 14"/>
          <p:cNvSpPr/>
          <p:nvPr/>
        </p:nvSpPr>
        <p:spPr>
          <a:xfrm>
            <a:off x="609600" y="2679700"/>
            <a:ext cx="10972800" cy="774700"/>
          </a:xfrm>
          <a:prstGeom prst="rect">
            <a:avLst/>
          </a:prstGeom>
          <a:solidFill>
            <a:srgbClr val="142238"/>
          </a:solidFill>
          <a:ln>
            <a:noFill/>
          </a:ln>
        </p:spPr>
      </p:sp>
      <p:sp>
        <p:nvSpPr>
          <p:cNvPr id="15" name="Shape 15"/>
          <p:cNvSpPr/>
          <p:nvPr/>
        </p:nvSpPr>
        <p:spPr>
          <a:xfrm>
            <a:off x="762000" y="2832100"/>
            <a:ext cx="1600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10 cycles</a:t>
            </a:r>
            <a:endParaRPr lang="en-US" sz="1600"/>
          </a:p>
        </p:txBody>
      </p:sp>
      <p:sp>
        <p:nvSpPr>
          <p:cNvPr id="16" name="Shape 16"/>
          <p:cNvSpPr/>
          <p:nvPr/>
        </p:nvSpPr>
        <p:spPr>
          <a:xfrm>
            <a:off x="2667000" y="2832100"/>
            <a:ext cx="3378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Immediate attention</a:t>
            </a:r>
            <a:endParaRPr lang="en-US" sz="1600"/>
          </a:p>
        </p:txBody>
      </p:sp>
      <p:sp>
        <p:nvSpPr>
          <p:cNvPr id="17" name="Shape 17"/>
          <p:cNvSpPr/>
          <p:nvPr/>
        </p:nvSpPr>
        <p:spPr>
          <a:xfrm>
            <a:off x="6350000" y="28321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0.4800</a:t>
            </a:r>
            <a:endParaRPr lang="en-US" sz="1600"/>
          </a:p>
        </p:txBody>
      </p:sp>
      <p:sp>
        <p:nvSpPr>
          <p:cNvPr id="18" name="Shape 18"/>
          <p:cNvSpPr/>
          <p:nvPr/>
        </p:nvSpPr>
        <p:spPr>
          <a:xfrm>
            <a:off x="9042400" y="28321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0.5455</a:t>
            </a:r>
            <a:endParaRPr lang="en-US" sz="1600"/>
          </a:p>
        </p:txBody>
      </p:sp>
      <p:sp>
        <p:nvSpPr>
          <p:cNvPr id="19" name="Shape 19"/>
          <p:cNvSpPr/>
          <p:nvPr/>
        </p:nvSpPr>
        <p:spPr>
          <a:xfrm>
            <a:off x="609600" y="3454400"/>
            <a:ext cx="10972800" cy="774700"/>
          </a:xfrm>
          <a:prstGeom prst="rect">
            <a:avLst/>
          </a:prstGeom>
          <a:solidFill>
            <a:srgbClr val="0B1220"/>
          </a:solidFill>
          <a:ln>
            <a:noFill/>
          </a:ln>
        </p:spPr>
      </p:sp>
      <p:sp>
        <p:nvSpPr>
          <p:cNvPr id="20" name="Shape 20"/>
          <p:cNvSpPr/>
          <p:nvPr/>
        </p:nvSpPr>
        <p:spPr>
          <a:xfrm>
            <a:off x="762000" y="3606800"/>
            <a:ext cx="1600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30 cycles</a:t>
            </a:r>
            <a:endParaRPr lang="en-US" sz="1600"/>
          </a:p>
        </p:txBody>
      </p:sp>
      <p:sp>
        <p:nvSpPr>
          <p:cNvPr id="21" name="Shape 21"/>
          <p:cNvSpPr/>
          <p:nvPr/>
        </p:nvSpPr>
        <p:spPr>
          <a:xfrm>
            <a:off x="2667000" y="3606800"/>
            <a:ext cx="3378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Near-term planning</a:t>
            </a:r>
            <a:endParaRPr lang="en-US" sz="1600"/>
          </a:p>
        </p:txBody>
      </p:sp>
      <p:sp>
        <p:nvSpPr>
          <p:cNvPr id="22" name="Shape 22"/>
          <p:cNvSpPr/>
          <p:nvPr/>
        </p:nvSpPr>
        <p:spPr>
          <a:xfrm>
            <a:off x="6350000" y="36068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0.7419</a:t>
            </a:r>
            <a:endParaRPr lang="en-US" sz="1600"/>
          </a:p>
        </p:txBody>
      </p:sp>
      <p:sp>
        <p:nvSpPr>
          <p:cNvPr id="23" name="Shape 23"/>
          <p:cNvSpPr/>
          <p:nvPr/>
        </p:nvSpPr>
        <p:spPr>
          <a:xfrm>
            <a:off x="9042400" y="36068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0.8846</a:t>
            </a:r>
            <a:endParaRPr lang="en-US" sz="1600"/>
          </a:p>
        </p:txBody>
      </p:sp>
      <p:sp>
        <p:nvSpPr>
          <p:cNvPr id="24" name="Shape 24"/>
          <p:cNvSpPr/>
          <p:nvPr/>
        </p:nvSpPr>
        <p:spPr>
          <a:xfrm>
            <a:off x="609600" y="4229100"/>
            <a:ext cx="10972800" cy="774700"/>
          </a:xfrm>
          <a:prstGeom prst="rect">
            <a:avLst/>
          </a:prstGeom>
          <a:solidFill>
            <a:srgbClr val="142238"/>
          </a:solidFill>
          <a:ln>
            <a:noFill/>
          </a:ln>
        </p:spPr>
      </p:sp>
      <p:sp>
        <p:nvSpPr>
          <p:cNvPr id="25" name="Shape 25"/>
          <p:cNvSpPr/>
          <p:nvPr/>
        </p:nvSpPr>
        <p:spPr>
          <a:xfrm>
            <a:off x="762000" y="4381500"/>
            <a:ext cx="1600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50 cycles</a:t>
            </a:r>
            <a:endParaRPr lang="en-US" sz="1600"/>
          </a:p>
        </p:txBody>
      </p:sp>
      <p:sp>
        <p:nvSpPr>
          <p:cNvPr id="26" name="Shape 26"/>
          <p:cNvSpPr/>
          <p:nvPr/>
        </p:nvSpPr>
        <p:spPr>
          <a:xfrm>
            <a:off x="2667000" y="4381500"/>
            <a:ext cx="33782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Earlier preparation</a:t>
            </a:r>
            <a:endParaRPr lang="en-US" sz="1600"/>
          </a:p>
        </p:txBody>
      </p:sp>
      <p:sp>
        <p:nvSpPr>
          <p:cNvPr id="27" name="Shape 27"/>
          <p:cNvSpPr/>
          <p:nvPr/>
        </p:nvSpPr>
        <p:spPr>
          <a:xfrm>
            <a:off x="6350000" y="43815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0.8250</a:t>
            </a:r>
            <a:endParaRPr lang="en-US" sz="1600"/>
          </a:p>
        </p:txBody>
      </p:sp>
      <p:sp>
        <p:nvSpPr>
          <p:cNvPr id="28" name="Shape 28"/>
          <p:cNvSpPr/>
          <p:nvPr/>
        </p:nvSpPr>
        <p:spPr>
          <a:xfrm>
            <a:off x="9042400" y="4381500"/>
            <a:ext cx="2387600" cy="596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0.8462</a:t>
            </a:r>
            <a:endParaRPr lang="en-US" sz="1600"/>
          </a:p>
        </p:txBody>
      </p:sp>
      <p:sp>
        <p:nvSpPr>
          <p:cNvPr id="29" name="Shape 29"/>
          <p:cNvSpPr/>
          <p:nvPr/>
        </p:nvSpPr>
        <p:spPr>
          <a:xfrm>
            <a:off x="609600" y="5575300"/>
            <a:ext cx="10972800" cy="520700"/>
          </a:xfrm>
          <a:prstGeom prst="roundRect">
            <a:avLst/>
          </a:prstGeom>
          <a:solidFill>
            <a:srgbClr val="142238"/>
          </a:solidFill>
          <a:ln>
            <a:noFill/>
          </a:ln>
        </p:spPr>
      </p:sp>
      <p:sp>
        <p:nvSpPr>
          <p:cNvPr id="30" name="Shape 30"/>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BiLSTM prediction + uncertainty + calibrated thresholds; these figures are not all-subset metrics.</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Health monitoring: explain the deviation">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Health monitoring: explain the deviation</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Anomaly_Health_Monitoring/config.py; ensemble_twin.py; verified forecast evaluation</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09</a:t>
            </a:r>
            <a:endParaRPr lang="en-US" sz="1000"/>
          </a:p>
        </p:txBody>
      </p:sp>
      <p:sp>
        <p:nvSpPr>
          <p:cNvPr id="9" name="Shape 9"/>
          <p:cNvSpPr/>
          <p:nvPr/>
        </p:nvSpPr>
        <p:spPr>
          <a:xfrm>
            <a:off x="609600" y="1917700"/>
            <a:ext cx="5194300" cy="33655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47371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Frozen monitoring reference</a:t>
            </a:r>
            <a:endParaRPr lang="en-US" sz="1900"/>
          </a:p>
        </p:txBody>
      </p:sp>
      <p:sp>
        <p:nvSpPr>
          <p:cNvPr id="12" name="Shape 12"/>
          <p:cNvSpPr/>
          <p:nvPr/>
        </p:nvSpPr>
        <p:spPr>
          <a:xfrm>
            <a:off x="838200" y="3213100"/>
            <a:ext cx="4737100" cy="1905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Context-aware healthy expectations drive</a:t>
            </a:r>
            <a:endParaRPr lang="en-US" sz="1700"/>
          </a:p>
          <a:p>
            <a:pPr algn="l">
              <a:lnSpc>
                <a:spcPts val="2108"/>
              </a:lnSpc>
              <a:spcAft>
                <a:spcPts val="0"/>
              </a:spcAft>
            </a:pPr>
            <a:r>
              <a:rPr lang="en-US" sz="1700" b="0">
                <a:solidFill>
                  <a:srgbClr val="A9B8CC"/>
                </a:solidFill>
                <a:latin typeface="Arial"/>
              </a:rPr>
              <a:t xml:space="preserve">residuals, condition detection, health index and</a:t>
            </a:r>
            <a:endParaRPr lang="en-US" sz="1700"/>
          </a:p>
          <a:p>
            <a:pPr algn="l">
              <a:lnSpc>
                <a:spcPts val="2108"/>
              </a:lnSpc>
              <a:spcAft>
                <a:spcPts val="0"/>
              </a:spcAft>
            </a:pPr>
            <a:r>
              <a:rPr lang="en-US" sz="1700" b="0">
                <a:solidFill>
                  <a:srgbClr val="A9B8CC"/>
                </a:solidFill>
                <a:latin typeface="Arial"/>
              </a:rPr>
              <a:t xml:space="preserve">subsystem reasoning.</a:t>
            </a:r>
            <a:endParaRPr lang="en-US" sz="1700"/>
          </a:p>
        </p:txBody>
      </p:sp>
      <p:sp>
        <p:nvSpPr>
          <p:cNvPr id="13" name="Shape 13"/>
          <p:cNvSpPr/>
          <p:nvPr/>
        </p:nvSpPr>
        <p:spPr>
          <a:xfrm>
            <a:off x="6057900" y="1917700"/>
            <a:ext cx="5524500" cy="3365500"/>
          </a:xfrm>
          <a:prstGeom prst="roundRect">
            <a:avLst/>
          </a:prstGeom>
          <a:solidFill>
            <a:srgbClr val="142238"/>
          </a:solidFill>
          <a:ln>
            <a:noFill/>
          </a:ln>
        </p:spPr>
      </p:sp>
      <p:sp>
        <p:nvSpPr>
          <p:cNvPr id="14" name="Shape 14"/>
          <p:cNvSpPr/>
          <p:nvPr/>
        </p:nvSpPr>
        <p:spPr>
          <a:xfrm>
            <a:off x="6286500" y="2159000"/>
            <a:ext cx="406400" cy="38100"/>
          </a:xfrm>
          <a:prstGeom prst="rect">
            <a:avLst/>
          </a:prstGeom>
          <a:solidFill>
            <a:srgbClr val="6FADFF"/>
          </a:solidFill>
          <a:ln>
            <a:noFill/>
          </a:ln>
        </p:spPr>
      </p:sp>
      <p:sp>
        <p:nvSpPr>
          <p:cNvPr id="15" name="Shape 15"/>
          <p:cNvSpPr/>
          <p:nvPr/>
        </p:nvSpPr>
        <p:spPr>
          <a:xfrm>
            <a:off x="6286500" y="2349500"/>
            <a:ext cx="50673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Adaptive sensor forecast</a:t>
            </a:r>
            <a:endParaRPr lang="en-US" sz="1900"/>
          </a:p>
        </p:txBody>
      </p:sp>
      <p:sp>
        <p:nvSpPr>
          <p:cNvPr id="16" name="Shape 16"/>
          <p:cNvSpPr/>
          <p:nvPr/>
        </p:nvSpPr>
        <p:spPr>
          <a:xfrm>
            <a:off x="6286500" y="3213100"/>
            <a:ext cx="5067300" cy="1905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Prior readings improve predictions of actual sensor</a:t>
            </a:r>
            <a:endParaRPr lang="en-US" sz="1700"/>
          </a:p>
          <a:p>
            <a:pPr algn="l">
              <a:lnSpc>
                <a:spcPts val="2108"/>
              </a:lnSpc>
              <a:spcAft>
                <a:spcPts val="0"/>
              </a:spcAft>
            </a:pPr>
            <a:r>
              <a:rPr lang="en-US" sz="1700" b="0">
                <a:solidFill>
                  <a:srgbClr val="A9B8CC"/>
                </a:solidFill>
                <a:latin typeface="Arial"/>
              </a:rPr>
              <a:t xml:space="preserve">behavior. Forecast errors remain separate from</a:t>
            </a:r>
            <a:endParaRPr lang="en-US" sz="1700"/>
          </a:p>
          <a:p>
            <a:pPr algn="l">
              <a:lnSpc>
                <a:spcPts val="2108"/>
              </a:lnSpc>
              <a:spcAft>
                <a:spcPts val="0"/>
              </a:spcAft>
            </a:pPr>
            <a:r>
              <a:rPr lang="en-US" sz="1700" b="0">
                <a:solidFill>
                  <a:srgbClr val="A9B8CC"/>
                </a:solidFill>
                <a:latin typeface="Arial"/>
              </a:rPr>
              <a:t xml:space="preserve">monitoring residuals.</a:t>
            </a:r>
            <a:endParaRPr lang="en-US" sz="1700"/>
          </a:p>
        </p:txBody>
      </p:sp>
      <p:sp>
        <p:nvSpPr>
          <p:cNvPr id="17" name="Shape 17"/>
          <p:cNvSpPr/>
          <p:nvPr/>
        </p:nvSpPr>
        <p:spPr>
          <a:xfrm>
            <a:off x="609600" y="5575300"/>
            <a:ext cx="10972800" cy="520700"/>
          </a:xfrm>
          <a:prstGeom prst="roundRect">
            <a:avLst/>
          </a:prstGeom>
          <a:solidFill>
            <a:srgbClr val="142238"/>
          </a:solidFill>
          <a:ln>
            <a:noFill/>
          </a:ln>
        </p:spPr>
      </p:sp>
      <p:sp>
        <p:nvSpPr>
          <p:cNvPr id="18" name="Shape 18"/>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Active raw-sensor forecast R²: 0.6417 → 0.6603. Frozen monitoring behavior is preserved.</a:t>
            </a:r>
            <a:endParaRPr 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upervisor: recommend the next action">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Supervisor: recommend the next action</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Maintenance_Supervisor: champion manifest, decision_fusion, confidence, feedback</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10</a:t>
            </a:r>
            <a:endParaRPr lang="en-US" sz="1000"/>
          </a:p>
        </p:txBody>
      </p:sp>
      <p:sp>
        <p:nvSpPr>
          <p:cNvPr id="9" name="Shape 9"/>
          <p:cNvSpPr/>
          <p:nvPr/>
        </p:nvSpPr>
        <p:spPr>
          <a:xfrm>
            <a:off x="609600" y="2044700"/>
            <a:ext cx="2032000" cy="2806700"/>
          </a:xfrm>
          <a:prstGeom prst="roundRect">
            <a:avLst/>
          </a:prstGeom>
          <a:solidFill>
            <a:srgbClr val="142238"/>
          </a:solidFill>
          <a:ln>
            <a:noFill/>
          </a:ln>
        </p:spPr>
      </p:sp>
      <p:sp>
        <p:nvSpPr>
          <p:cNvPr id="10" name="Shape 10"/>
          <p:cNvSpPr/>
          <p:nvPr/>
        </p:nvSpPr>
        <p:spPr>
          <a:xfrm>
            <a:off x="787400" y="2247900"/>
            <a:ext cx="1676400" cy="660400"/>
          </a:xfrm>
          <a:prstGeom prst="rect">
            <a:avLst/>
          </a:prstGeom>
          <a:noFill/>
          <a:ln>
            <a:noFill/>
          </a:ln>
        </p:spPr>
        <p:txBody>
          <a:bodyPr wrap="none" lIns="0" tIns="0" rIns="0" bIns="0" anchor="t">
            <a:noAutofit/>
          </a:bodyPr>
          <a:lstStyle/>
          <a:p>
            <a:pPr algn="l">
              <a:lnSpc>
                <a:spcPts val="4340"/>
              </a:lnSpc>
              <a:spcAft>
                <a:spcPts val="0"/>
              </a:spcAft>
            </a:pPr>
            <a:r>
              <a:rPr lang="en-US" sz="3500" b="1">
                <a:solidFill>
                  <a:srgbClr val="40D9CD"/>
                </a:solidFill>
                <a:latin typeface="Arial"/>
              </a:rPr>
              <a:t xml:space="preserve">1</a:t>
            </a:r>
            <a:endParaRPr lang="en-US" sz="3500"/>
          </a:p>
        </p:txBody>
      </p:sp>
      <p:sp>
        <p:nvSpPr>
          <p:cNvPr id="11" name="Shape 11"/>
          <p:cNvSpPr/>
          <p:nvPr/>
        </p:nvSpPr>
        <p:spPr>
          <a:xfrm>
            <a:off x="787400" y="3035300"/>
            <a:ext cx="1676400" cy="4318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Continue</a:t>
            </a:r>
            <a:endParaRPr lang="en-US" sz="1800"/>
          </a:p>
        </p:txBody>
      </p:sp>
      <p:sp>
        <p:nvSpPr>
          <p:cNvPr id="12" name="Shape 12"/>
          <p:cNvSpPr/>
          <p:nvPr/>
        </p:nvSpPr>
        <p:spPr>
          <a:xfrm>
            <a:off x="787400" y="3695700"/>
            <a:ext cx="1676400" cy="9652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Operation</a:t>
            </a:r>
            <a:endParaRPr lang="en-US" sz="1600"/>
          </a:p>
          <a:p>
            <a:pPr algn="l">
              <a:lnSpc>
                <a:spcPts val="1984"/>
              </a:lnSpc>
              <a:spcAft>
                <a:spcPts val="0"/>
              </a:spcAft>
            </a:pPr>
            <a:r>
              <a:rPr lang="en-US" sz="1600" b="0">
                <a:solidFill>
                  <a:srgbClr val="A9B8CC"/>
                </a:solidFill>
                <a:latin typeface="Arial"/>
              </a:rPr>
              <a:t xml:space="preserve">remains routine</a:t>
            </a:r>
            <a:endParaRPr lang="en-US" sz="1600"/>
          </a:p>
        </p:txBody>
      </p:sp>
      <p:sp>
        <p:nvSpPr>
          <p:cNvPr id="13" name="Shape 13"/>
          <p:cNvSpPr/>
          <p:nvPr/>
        </p:nvSpPr>
        <p:spPr>
          <a:xfrm>
            <a:off x="2844800" y="2044700"/>
            <a:ext cx="2032000" cy="2806700"/>
          </a:xfrm>
          <a:prstGeom prst="roundRect">
            <a:avLst/>
          </a:prstGeom>
          <a:solidFill>
            <a:srgbClr val="142238"/>
          </a:solidFill>
          <a:ln>
            <a:noFill/>
          </a:ln>
        </p:spPr>
      </p:sp>
      <p:sp>
        <p:nvSpPr>
          <p:cNvPr id="14" name="Shape 14"/>
          <p:cNvSpPr/>
          <p:nvPr/>
        </p:nvSpPr>
        <p:spPr>
          <a:xfrm>
            <a:off x="3022600" y="2247900"/>
            <a:ext cx="1676400" cy="660400"/>
          </a:xfrm>
          <a:prstGeom prst="rect">
            <a:avLst/>
          </a:prstGeom>
          <a:noFill/>
          <a:ln>
            <a:noFill/>
          </a:ln>
        </p:spPr>
        <p:txBody>
          <a:bodyPr wrap="none" lIns="0" tIns="0" rIns="0" bIns="0" anchor="t">
            <a:noAutofit/>
          </a:bodyPr>
          <a:lstStyle/>
          <a:p>
            <a:pPr algn="l">
              <a:lnSpc>
                <a:spcPts val="4340"/>
              </a:lnSpc>
              <a:spcAft>
                <a:spcPts val="0"/>
              </a:spcAft>
            </a:pPr>
            <a:r>
              <a:rPr lang="en-US" sz="3500" b="1">
                <a:solidFill>
                  <a:srgbClr val="40D9CD"/>
                </a:solidFill>
                <a:latin typeface="Arial"/>
              </a:rPr>
              <a:t xml:space="preserve">2</a:t>
            </a:r>
            <a:endParaRPr lang="en-US" sz="3500"/>
          </a:p>
        </p:txBody>
      </p:sp>
      <p:sp>
        <p:nvSpPr>
          <p:cNvPr id="15" name="Shape 15"/>
          <p:cNvSpPr/>
          <p:nvPr/>
        </p:nvSpPr>
        <p:spPr>
          <a:xfrm>
            <a:off x="3022600" y="3035300"/>
            <a:ext cx="1676400" cy="4318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Monitor</a:t>
            </a:r>
            <a:endParaRPr lang="en-US" sz="1800"/>
          </a:p>
        </p:txBody>
      </p:sp>
      <p:sp>
        <p:nvSpPr>
          <p:cNvPr id="16" name="Shape 16"/>
          <p:cNvSpPr/>
          <p:nvPr/>
        </p:nvSpPr>
        <p:spPr>
          <a:xfrm>
            <a:off x="3022600" y="3695700"/>
            <a:ext cx="1676400" cy="9652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Increase attention</a:t>
            </a:r>
            <a:endParaRPr lang="en-US" sz="1600"/>
          </a:p>
        </p:txBody>
      </p:sp>
      <p:sp>
        <p:nvSpPr>
          <p:cNvPr id="17" name="Shape 17"/>
          <p:cNvSpPr/>
          <p:nvPr/>
        </p:nvSpPr>
        <p:spPr>
          <a:xfrm>
            <a:off x="5080000" y="2044700"/>
            <a:ext cx="2032000" cy="2806700"/>
          </a:xfrm>
          <a:prstGeom prst="roundRect">
            <a:avLst/>
          </a:prstGeom>
          <a:solidFill>
            <a:srgbClr val="142238"/>
          </a:solidFill>
          <a:ln>
            <a:noFill/>
          </a:ln>
        </p:spPr>
      </p:sp>
      <p:sp>
        <p:nvSpPr>
          <p:cNvPr id="18" name="Shape 18"/>
          <p:cNvSpPr/>
          <p:nvPr/>
        </p:nvSpPr>
        <p:spPr>
          <a:xfrm>
            <a:off x="5257800" y="2247900"/>
            <a:ext cx="1676400" cy="660400"/>
          </a:xfrm>
          <a:prstGeom prst="rect">
            <a:avLst/>
          </a:prstGeom>
          <a:noFill/>
          <a:ln>
            <a:noFill/>
          </a:ln>
        </p:spPr>
        <p:txBody>
          <a:bodyPr wrap="none" lIns="0" tIns="0" rIns="0" bIns="0" anchor="t">
            <a:noAutofit/>
          </a:bodyPr>
          <a:lstStyle/>
          <a:p>
            <a:pPr algn="l">
              <a:lnSpc>
                <a:spcPts val="4340"/>
              </a:lnSpc>
              <a:spcAft>
                <a:spcPts val="0"/>
              </a:spcAft>
            </a:pPr>
            <a:r>
              <a:rPr lang="en-US" sz="3500" b="1">
                <a:solidFill>
                  <a:srgbClr val="40D9CD"/>
                </a:solidFill>
                <a:latin typeface="Arial"/>
              </a:rPr>
              <a:t xml:space="preserve">3</a:t>
            </a:r>
            <a:endParaRPr lang="en-US" sz="3500"/>
          </a:p>
        </p:txBody>
      </p:sp>
      <p:sp>
        <p:nvSpPr>
          <p:cNvPr id="19" name="Shape 19"/>
          <p:cNvSpPr/>
          <p:nvPr/>
        </p:nvSpPr>
        <p:spPr>
          <a:xfrm>
            <a:off x="5257800" y="3035300"/>
            <a:ext cx="1676400" cy="4318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Inspect</a:t>
            </a:r>
            <a:endParaRPr lang="en-US" sz="1800"/>
          </a:p>
        </p:txBody>
      </p:sp>
      <p:sp>
        <p:nvSpPr>
          <p:cNvPr id="20" name="Shape 20"/>
          <p:cNvSpPr/>
          <p:nvPr/>
        </p:nvSpPr>
        <p:spPr>
          <a:xfrm>
            <a:off x="5257800" y="3695700"/>
            <a:ext cx="1676400" cy="9652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Plan targeted</a:t>
            </a:r>
            <a:endParaRPr lang="en-US" sz="1600"/>
          </a:p>
          <a:p>
            <a:pPr algn="l">
              <a:lnSpc>
                <a:spcPts val="1984"/>
              </a:lnSpc>
              <a:spcAft>
                <a:spcPts val="0"/>
              </a:spcAft>
            </a:pPr>
            <a:r>
              <a:rPr lang="en-US" sz="1600" b="0">
                <a:solidFill>
                  <a:srgbClr val="A9B8CC"/>
                </a:solidFill>
                <a:latin typeface="Arial"/>
              </a:rPr>
              <a:t xml:space="preserve">inspection</a:t>
            </a:r>
            <a:endParaRPr lang="en-US" sz="1600"/>
          </a:p>
        </p:txBody>
      </p:sp>
      <p:sp>
        <p:nvSpPr>
          <p:cNvPr id="21" name="Shape 21"/>
          <p:cNvSpPr/>
          <p:nvPr/>
        </p:nvSpPr>
        <p:spPr>
          <a:xfrm>
            <a:off x="7315200" y="2044700"/>
            <a:ext cx="2032000" cy="2806700"/>
          </a:xfrm>
          <a:prstGeom prst="roundRect">
            <a:avLst/>
          </a:prstGeom>
          <a:solidFill>
            <a:srgbClr val="142238"/>
          </a:solidFill>
          <a:ln>
            <a:noFill/>
          </a:ln>
        </p:spPr>
      </p:sp>
      <p:sp>
        <p:nvSpPr>
          <p:cNvPr id="22" name="Shape 22"/>
          <p:cNvSpPr/>
          <p:nvPr/>
        </p:nvSpPr>
        <p:spPr>
          <a:xfrm>
            <a:off x="7493000" y="2247900"/>
            <a:ext cx="1676400" cy="660400"/>
          </a:xfrm>
          <a:prstGeom prst="rect">
            <a:avLst/>
          </a:prstGeom>
          <a:noFill/>
          <a:ln>
            <a:noFill/>
          </a:ln>
        </p:spPr>
        <p:txBody>
          <a:bodyPr wrap="none" lIns="0" tIns="0" rIns="0" bIns="0" anchor="t">
            <a:noAutofit/>
          </a:bodyPr>
          <a:lstStyle/>
          <a:p>
            <a:pPr algn="l">
              <a:lnSpc>
                <a:spcPts val="4340"/>
              </a:lnSpc>
              <a:spcAft>
                <a:spcPts val="0"/>
              </a:spcAft>
            </a:pPr>
            <a:r>
              <a:rPr lang="en-US" sz="3500" b="1">
                <a:solidFill>
                  <a:srgbClr val="40D9CD"/>
                </a:solidFill>
                <a:latin typeface="Arial"/>
              </a:rPr>
              <a:t xml:space="preserve">4</a:t>
            </a:r>
            <a:endParaRPr lang="en-US" sz="3500"/>
          </a:p>
        </p:txBody>
      </p:sp>
      <p:sp>
        <p:nvSpPr>
          <p:cNvPr id="23" name="Shape 23"/>
          <p:cNvSpPr/>
          <p:nvPr/>
        </p:nvSpPr>
        <p:spPr>
          <a:xfrm>
            <a:off x="7493000" y="3035300"/>
            <a:ext cx="1676400" cy="4318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Maintain</a:t>
            </a:r>
            <a:endParaRPr lang="en-US" sz="1800"/>
          </a:p>
        </p:txBody>
      </p:sp>
      <p:sp>
        <p:nvSpPr>
          <p:cNvPr id="24" name="Shape 24"/>
          <p:cNvSpPr/>
          <p:nvPr/>
        </p:nvSpPr>
        <p:spPr>
          <a:xfrm>
            <a:off x="7493000" y="3695700"/>
            <a:ext cx="1676400" cy="9652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Schedule</a:t>
            </a:r>
            <a:endParaRPr lang="en-US" sz="1600"/>
          </a:p>
          <a:p>
            <a:pPr algn="l">
              <a:lnSpc>
                <a:spcPts val="1984"/>
              </a:lnSpc>
              <a:spcAft>
                <a:spcPts val="0"/>
              </a:spcAft>
            </a:pPr>
            <a:r>
              <a:rPr lang="en-US" sz="1600" b="0">
                <a:solidFill>
                  <a:srgbClr val="A9B8CC"/>
                </a:solidFill>
                <a:latin typeface="Arial"/>
              </a:rPr>
              <a:t xml:space="preserve">maintenance</a:t>
            </a:r>
            <a:endParaRPr lang="en-US" sz="1600"/>
          </a:p>
        </p:txBody>
      </p:sp>
      <p:sp>
        <p:nvSpPr>
          <p:cNvPr id="25" name="Shape 25"/>
          <p:cNvSpPr/>
          <p:nvPr/>
        </p:nvSpPr>
        <p:spPr>
          <a:xfrm>
            <a:off x="9550400" y="2044700"/>
            <a:ext cx="2032000" cy="2806700"/>
          </a:xfrm>
          <a:prstGeom prst="roundRect">
            <a:avLst/>
          </a:prstGeom>
          <a:solidFill>
            <a:srgbClr val="142238"/>
          </a:solidFill>
          <a:ln>
            <a:noFill/>
          </a:ln>
        </p:spPr>
      </p:sp>
      <p:sp>
        <p:nvSpPr>
          <p:cNvPr id="26" name="Shape 26"/>
          <p:cNvSpPr/>
          <p:nvPr/>
        </p:nvSpPr>
        <p:spPr>
          <a:xfrm>
            <a:off x="9728200" y="2247900"/>
            <a:ext cx="1676400" cy="660400"/>
          </a:xfrm>
          <a:prstGeom prst="rect">
            <a:avLst/>
          </a:prstGeom>
          <a:noFill/>
          <a:ln>
            <a:noFill/>
          </a:ln>
        </p:spPr>
        <p:txBody>
          <a:bodyPr wrap="none" lIns="0" tIns="0" rIns="0" bIns="0" anchor="t">
            <a:noAutofit/>
          </a:bodyPr>
          <a:lstStyle/>
          <a:p>
            <a:pPr algn="l">
              <a:lnSpc>
                <a:spcPts val="4340"/>
              </a:lnSpc>
              <a:spcAft>
                <a:spcPts val="0"/>
              </a:spcAft>
            </a:pPr>
            <a:r>
              <a:rPr lang="en-US" sz="3500" b="1">
                <a:solidFill>
                  <a:srgbClr val="40D9CD"/>
                </a:solidFill>
                <a:latin typeface="Arial"/>
              </a:rPr>
              <a:t xml:space="preserve">5</a:t>
            </a:r>
            <a:endParaRPr lang="en-US" sz="3500"/>
          </a:p>
        </p:txBody>
      </p:sp>
      <p:sp>
        <p:nvSpPr>
          <p:cNvPr id="27" name="Shape 27"/>
          <p:cNvSpPr/>
          <p:nvPr/>
        </p:nvSpPr>
        <p:spPr>
          <a:xfrm>
            <a:off x="9728200" y="3035300"/>
            <a:ext cx="1676400" cy="431800"/>
          </a:xfrm>
          <a:prstGeom prst="rect">
            <a:avLst/>
          </a:prstGeom>
          <a:noFill/>
          <a:ln>
            <a:noFill/>
          </a:ln>
        </p:spPr>
        <p:txBody>
          <a:bodyPr wrap="none" lIns="0" tIns="0" rIns="0" bIns="0" anchor="t">
            <a:noAutofit/>
          </a:bodyPr>
          <a:lstStyle/>
          <a:p>
            <a:pPr algn="l">
              <a:lnSpc>
                <a:spcPts val="2232"/>
              </a:lnSpc>
              <a:spcAft>
                <a:spcPts val="0"/>
              </a:spcAft>
            </a:pPr>
            <a:r>
              <a:rPr lang="en-US" sz="1800" b="1">
                <a:solidFill>
                  <a:srgbClr val="F2F6FC"/>
                </a:solidFill>
                <a:latin typeface="Arial"/>
              </a:rPr>
              <a:t xml:space="preserve">Urgent</a:t>
            </a:r>
            <a:endParaRPr lang="en-US" sz="1800"/>
          </a:p>
        </p:txBody>
      </p:sp>
      <p:sp>
        <p:nvSpPr>
          <p:cNvPr id="28" name="Shape 28"/>
          <p:cNvSpPr/>
          <p:nvPr/>
        </p:nvSpPr>
        <p:spPr>
          <a:xfrm>
            <a:off x="9728200" y="3695700"/>
            <a:ext cx="1676400" cy="9652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Immediate</a:t>
            </a:r>
            <a:endParaRPr lang="en-US" sz="1600"/>
          </a:p>
          <a:p>
            <a:pPr algn="l">
              <a:lnSpc>
                <a:spcPts val="1984"/>
              </a:lnSpc>
              <a:spcAft>
                <a:spcPts val="0"/>
              </a:spcAft>
            </a:pPr>
            <a:r>
              <a:rPr lang="en-US" sz="1600" b="0">
                <a:solidFill>
                  <a:srgbClr val="A9B8CC"/>
                </a:solidFill>
                <a:latin typeface="Arial"/>
              </a:rPr>
              <a:t xml:space="preserve">maintenance</a:t>
            </a:r>
            <a:endParaRPr lang="en-US" sz="1600"/>
          </a:p>
          <a:p>
            <a:pPr algn="l">
              <a:lnSpc>
                <a:spcPts val="1984"/>
              </a:lnSpc>
              <a:spcAft>
                <a:spcPts val="0"/>
              </a:spcAft>
            </a:pPr>
            <a:r>
              <a:rPr lang="en-US" sz="1600" b="0">
                <a:solidFill>
                  <a:srgbClr val="A9B8CC"/>
                </a:solidFill>
                <a:latin typeface="Arial"/>
              </a:rPr>
              <a:t xml:space="preserve">review</a:t>
            </a:r>
            <a:endParaRPr lang="en-US" sz="1600"/>
          </a:p>
        </p:txBody>
      </p:sp>
      <p:sp>
        <p:nvSpPr>
          <p:cNvPr id="29" name="Shape 29"/>
          <p:cNvSpPr/>
          <p:nvPr/>
        </p:nvSpPr>
        <p:spPr>
          <a:xfrm>
            <a:off x="609600" y="5575300"/>
            <a:ext cx="10972800" cy="520700"/>
          </a:xfrm>
          <a:prstGeom prst="roundRect">
            <a:avLst/>
          </a:prstGeom>
          <a:solidFill>
            <a:srgbClr val="142238"/>
          </a:solidFill>
          <a:ln>
            <a:noFill/>
          </a:ln>
        </p:spPr>
      </p:sp>
      <p:sp>
        <p:nvSpPr>
          <p:cNvPr id="30" name="Shape 30"/>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Inputs are fused with confidence, conflict checks and policy overrides before operator review.</a:t>
            </a:r>
            <a:endParaRPr 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Operator workspace: one view of the fleet">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Operator workspace: one view of the fleet</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Frontend/src/app/routes.tsx; Overview.tsx; MaintenanceSupervisor.tsx</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11</a:t>
            </a:r>
            <a:endParaRPr lang="en-US" sz="1000"/>
          </a:p>
        </p:txBody>
      </p:sp>
      <p:sp>
        <p:nvSpPr>
          <p:cNvPr id="9" name="Shape 9"/>
          <p:cNvSpPr/>
          <p:nvPr/>
        </p:nvSpPr>
        <p:spPr>
          <a:xfrm>
            <a:off x="609600" y="1905000"/>
            <a:ext cx="5372100" cy="1574800"/>
          </a:xfrm>
          <a:prstGeom prst="roundRect">
            <a:avLst/>
          </a:prstGeom>
          <a:solidFill>
            <a:srgbClr val="142238"/>
          </a:solidFill>
          <a:ln>
            <a:noFill/>
          </a:ln>
        </p:spPr>
      </p:sp>
      <p:sp>
        <p:nvSpPr>
          <p:cNvPr id="10" name="Shape 10"/>
          <p:cNvSpPr/>
          <p:nvPr/>
        </p:nvSpPr>
        <p:spPr>
          <a:xfrm>
            <a:off x="825500" y="2120900"/>
            <a:ext cx="4940300" cy="3683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Fleet overview</a:t>
            </a:r>
            <a:endParaRPr lang="en-US" sz="2000"/>
          </a:p>
        </p:txBody>
      </p:sp>
      <p:sp>
        <p:nvSpPr>
          <p:cNvPr id="11" name="Shape 11"/>
          <p:cNvSpPr/>
          <p:nvPr/>
        </p:nvSpPr>
        <p:spPr>
          <a:xfrm>
            <a:off x="825500" y="2628900"/>
            <a:ext cx="4940300" cy="749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Health state, RUL distribution, queue and drift</a:t>
            </a:r>
            <a:endParaRPr lang="en-US" sz="1700"/>
          </a:p>
        </p:txBody>
      </p:sp>
      <p:sp>
        <p:nvSpPr>
          <p:cNvPr id="12" name="Shape 12"/>
          <p:cNvSpPr/>
          <p:nvPr/>
        </p:nvSpPr>
        <p:spPr>
          <a:xfrm>
            <a:off x="6210300" y="1905000"/>
            <a:ext cx="5372100" cy="1574800"/>
          </a:xfrm>
          <a:prstGeom prst="roundRect">
            <a:avLst/>
          </a:prstGeom>
          <a:solidFill>
            <a:srgbClr val="142238"/>
          </a:solidFill>
          <a:ln>
            <a:noFill/>
          </a:ln>
        </p:spPr>
      </p:sp>
      <p:sp>
        <p:nvSpPr>
          <p:cNvPr id="13" name="Shape 13"/>
          <p:cNvSpPr/>
          <p:nvPr/>
        </p:nvSpPr>
        <p:spPr>
          <a:xfrm>
            <a:off x="6426200" y="2120900"/>
            <a:ext cx="4940300" cy="3683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Engine investigation</a:t>
            </a:r>
            <a:endParaRPr lang="en-US" sz="2000"/>
          </a:p>
        </p:txBody>
      </p:sp>
      <p:sp>
        <p:nvSpPr>
          <p:cNvPr id="14" name="Shape 14"/>
          <p:cNvSpPr/>
          <p:nvPr/>
        </p:nvSpPr>
        <p:spPr>
          <a:xfrm>
            <a:off x="6426200" y="2628900"/>
            <a:ext cx="4940300" cy="749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Sensor traces, risk horizons and health history</a:t>
            </a:r>
            <a:endParaRPr lang="en-US" sz="1700"/>
          </a:p>
        </p:txBody>
      </p:sp>
      <p:sp>
        <p:nvSpPr>
          <p:cNvPr id="15" name="Shape 15"/>
          <p:cNvSpPr/>
          <p:nvPr/>
        </p:nvSpPr>
        <p:spPr>
          <a:xfrm>
            <a:off x="609600" y="3683000"/>
            <a:ext cx="5372100" cy="1574800"/>
          </a:xfrm>
          <a:prstGeom prst="roundRect">
            <a:avLst/>
          </a:prstGeom>
          <a:solidFill>
            <a:srgbClr val="142238"/>
          </a:solidFill>
          <a:ln>
            <a:noFill/>
          </a:ln>
        </p:spPr>
      </p:sp>
      <p:sp>
        <p:nvSpPr>
          <p:cNvPr id="16" name="Shape 16"/>
          <p:cNvSpPr/>
          <p:nvPr/>
        </p:nvSpPr>
        <p:spPr>
          <a:xfrm>
            <a:off x="825500" y="3898900"/>
            <a:ext cx="4940300" cy="3683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Maintenance review</a:t>
            </a:r>
            <a:endParaRPr lang="en-US" sz="2000"/>
          </a:p>
        </p:txBody>
      </p:sp>
      <p:sp>
        <p:nvSpPr>
          <p:cNvPr id="17" name="Shape 17"/>
          <p:cNvSpPr/>
          <p:nvPr/>
        </p:nvSpPr>
        <p:spPr>
          <a:xfrm>
            <a:off x="825500" y="4406900"/>
            <a:ext cx="4940300" cy="749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Action, priority, confidence and explanation</a:t>
            </a:r>
            <a:endParaRPr lang="en-US" sz="1700"/>
          </a:p>
        </p:txBody>
      </p:sp>
      <p:sp>
        <p:nvSpPr>
          <p:cNvPr id="18" name="Shape 18"/>
          <p:cNvSpPr/>
          <p:nvPr/>
        </p:nvSpPr>
        <p:spPr>
          <a:xfrm>
            <a:off x="6210300" y="3683000"/>
            <a:ext cx="5372100" cy="1574800"/>
          </a:xfrm>
          <a:prstGeom prst="roundRect">
            <a:avLst/>
          </a:prstGeom>
          <a:solidFill>
            <a:srgbClr val="142238"/>
          </a:solidFill>
          <a:ln>
            <a:noFill/>
          </a:ln>
        </p:spPr>
      </p:sp>
      <p:sp>
        <p:nvSpPr>
          <p:cNvPr id="19" name="Shape 19"/>
          <p:cNvSpPr/>
          <p:nvPr/>
        </p:nvSpPr>
        <p:spPr>
          <a:xfrm>
            <a:off x="6426200" y="3898900"/>
            <a:ext cx="4940300" cy="368300"/>
          </a:xfrm>
          <a:prstGeom prst="rect">
            <a:avLst/>
          </a:prstGeom>
          <a:noFill/>
          <a:ln>
            <a:noFill/>
          </a:ln>
        </p:spPr>
        <p:txBody>
          <a:bodyPr wrap="none" lIns="0" tIns="0" rIns="0" bIns="0" anchor="t">
            <a:noAutofit/>
          </a:bodyPr>
          <a:lstStyle/>
          <a:p>
            <a:pPr algn="l">
              <a:lnSpc>
                <a:spcPts val="2480"/>
              </a:lnSpc>
              <a:spcAft>
                <a:spcPts val="0"/>
              </a:spcAft>
            </a:pPr>
            <a:r>
              <a:rPr lang="en-US" sz="2000" b="1">
                <a:solidFill>
                  <a:srgbClr val="40D9CD"/>
                </a:solidFill>
                <a:latin typeface="Arial"/>
              </a:rPr>
              <a:t xml:space="preserve">Evidence + feedback</a:t>
            </a:r>
            <a:endParaRPr lang="en-US" sz="2000"/>
          </a:p>
        </p:txBody>
      </p:sp>
      <p:sp>
        <p:nvSpPr>
          <p:cNvPr id="20" name="Shape 20"/>
          <p:cNvSpPr/>
          <p:nvPr/>
        </p:nvSpPr>
        <p:spPr>
          <a:xfrm>
            <a:off x="6426200" y="4406900"/>
            <a:ext cx="4940300" cy="7493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Reports, model metrics and engineer response</a:t>
            </a:r>
            <a:endParaRPr lang="en-US" sz="17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Schematic of implemented UI capabilities; each view reads backend outputs.</a:t>
            </a:r>
            <a:endParaRPr 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easured results: keep the metrics distinct">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Measured results: keep the metrics distinct</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forecast_target_080.json; Predictive_Maintenance/evaluation_metrics.json</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12</a:t>
            </a:r>
            <a:endParaRPr lang="en-US" sz="1000"/>
          </a:p>
        </p:txBody>
      </p:sp>
      <p:sp>
        <p:nvSpPr>
          <p:cNvPr id="9" name="Shape 9"/>
          <p:cNvSpPr/>
          <p:nvPr/>
        </p:nvSpPr>
        <p:spPr>
          <a:xfrm>
            <a:off x="609600" y="1905000"/>
            <a:ext cx="10972800" cy="647700"/>
          </a:xfrm>
          <a:prstGeom prst="rect">
            <a:avLst/>
          </a:prstGeom>
          <a:solidFill>
            <a:srgbClr val="2B3B52"/>
          </a:solidFill>
          <a:ln>
            <a:noFill/>
          </a:ln>
        </p:spPr>
      </p:sp>
      <p:sp>
        <p:nvSpPr>
          <p:cNvPr id="10" name="Shape 10"/>
          <p:cNvSpPr/>
          <p:nvPr/>
        </p:nvSpPr>
        <p:spPr>
          <a:xfrm>
            <a:off x="762000" y="2057400"/>
            <a:ext cx="46482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Evaluation</a:t>
            </a:r>
            <a:endParaRPr lang="en-US" sz="1500"/>
          </a:p>
        </p:txBody>
      </p:sp>
      <p:sp>
        <p:nvSpPr>
          <p:cNvPr id="11" name="Shape 11"/>
          <p:cNvSpPr/>
          <p:nvPr/>
        </p:nvSpPr>
        <p:spPr>
          <a:xfrm>
            <a:off x="5715000" y="2057400"/>
            <a:ext cx="19812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Before</a:t>
            </a:r>
            <a:endParaRPr lang="en-US" sz="1500"/>
          </a:p>
        </p:txBody>
      </p:sp>
      <p:sp>
        <p:nvSpPr>
          <p:cNvPr id="12" name="Shape 12"/>
          <p:cNvSpPr/>
          <p:nvPr/>
        </p:nvSpPr>
        <p:spPr>
          <a:xfrm>
            <a:off x="8001000" y="2057400"/>
            <a:ext cx="34290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Active / saved result</a:t>
            </a:r>
            <a:endParaRPr lang="en-US" sz="1500"/>
          </a:p>
        </p:txBody>
      </p:sp>
      <p:sp>
        <p:nvSpPr>
          <p:cNvPr id="13" name="Shape 13"/>
          <p:cNvSpPr/>
          <p:nvPr/>
        </p:nvSpPr>
        <p:spPr>
          <a:xfrm>
            <a:off x="609600" y="2552700"/>
            <a:ext cx="10972800" cy="647700"/>
          </a:xfrm>
          <a:prstGeom prst="rect">
            <a:avLst/>
          </a:prstGeom>
          <a:solidFill>
            <a:srgbClr val="142238"/>
          </a:solidFill>
          <a:ln>
            <a:noFill/>
          </a:ln>
        </p:spPr>
      </p:sp>
      <p:sp>
        <p:nvSpPr>
          <p:cNvPr id="14" name="Shape 14"/>
          <p:cNvSpPr/>
          <p:nvPr/>
        </p:nvSpPr>
        <p:spPr>
          <a:xfrm>
            <a:off x="762000" y="2705100"/>
            <a:ext cx="464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Raw-sensor forecast R²</a:t>
            </a:r>
            <a:endParaRPr lang="en-US" sz="1600"/>
          </a:p>
        </p:txBody>
      </p:sp>
      <p:sp>
        <p:nvSpPr>
          <p:cNvPr id="15" name="Shape 15"/>
          <p:cNvSpPr/>
          <p:nvPr/>
        </p:nvSpPr>
        <p:spPr>
          <a:xfrm>
            <a:off x="5715000" y="2705100"/>
            <a:ext cx="198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0.6417</a:t>
            </a:r>
            <a:endParaRPr lang="en-US" sz="1600"/>
          </a:p>
        </p:txBody>
      </p:sp>
      <p:sp>
        <p:nvSpPr>
          <p:cNvPr id="16" name="Shape 16"/>
          <p:cNvSpPr/>
          <p:nvPr/>
        </p:nvSpPr>
        <p:spPr>
          <a:xfrm>
            <a:off x="8001000" y="2705100"/>
            <a:ext cx="342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0.6603</a:t>
            </a:r>
            <a:endParaRPr lang="en-US" sz="1600"/>
          </a:p>
        </p:txBody>
      </p:sp>
      <p:sp>
        <p:nvSpPr>
          <p:cNvPr id="17" name="Shape 17"/>
          <p:cNvSpPr/>
          <p:nvPr/>
        </p:nvSpPr>
        <p:spPr>
          <a:xfrm>
            <a:off x="609600" y="3200400"/>
            <a:ext cx="10972800" cy="647700"/>
          </a:xfrm>
          <a:prstGeom prst="rect">
            <a:avLst/>
          </a:prstGeom>
          <a:solidFill>
            <a:srgbClr val="0B1220"/>
          </a:solidFill>
          <a:ln>
            <a:noFill/>
          </a:ln>
        </p:spPr>
      </p:sp>
      <p:sp>
        <p:nvSpPr>
          <p:cNvPr id="18" name="Shape 18"/>
          <p:cNvSpPr/>
          <p:nvPr/>
        </p:nvSpPr>
        <p:spPr>
          <a:xfrm>
            <a:off x="762000" y="3352800"/>
            <a:ext cx="464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Raw-sensor RMSE</a:t>
            </a:r>
            <a:endParaRPr lang="en-US" sz="1600"/>
          </a:p>
        </p:txBody>
      </p:sp>
      <p:sp>
        <p:nvSpPr>
          <p:cNvPr id="19" name="Shape 19"/>
          <p:cNvSpPr/>
          <p:nvPr/>
        </p:nvSpPr>
        <p:spPr>
          <a:xfrm>
            <a:off x="5715000" y="3352800"/>
            <a:ext cx="198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0.4318</a:t>
            </a:r>
            <a:endParaRPr lang="en-US" sz="1600"/>
          </a:p>
        </p:txBody>
      </p:sp>
      <p:sp>
        <p:nvSpPr>
          <p:cNvPr id="20" name="Shape 20"/>
          <p:cNvSpPr/>
          <p:nvPr/>
        </p:nvSpPr>
        <p:spPr>
          <a:xfrm>
            <a:off x="8001000" y="3352800"/>
            <a:ext cx="342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0.4205</a:t>
            </a:r>
            <a:endParaRPr lang="en-US" sz="1600"/>
          </a:p>
        </p:txBody>
      </p:sp>
      <p:sp>
        <p:nvSpPr>
          <p:cNvPr id="21" name="Shape 21"/>
          <p:cNvSpPr/>
          <p:nvPr/>
        </p:nvSpPr>
        <p:spPr>
          <a:xfrm>
            <a:off x="609600" y="3848100"/>
            <a:ext cx="10972800" cy="647700"/>
          </a:xfrm>
          <a:prstGeom prst="rect">
            <a:avLst/>
          </a:prstGeom>
          <a:solidFill>
            <a:srgbClr val="142238"/>
          </a:solidFill>
          <a:ln>
            <a:noFill/>
          </a:ln>
        </p:spPr>
      </p:sp>
      <p:sp>
        <p:nvSpPr>
          <p:cNvPr id="22" name="Shape 22"/>
          <p:cNvSpPr/>
          <p:nvPr/>
        </p:nvSpPr>
        <p:spPr>
          <a:xfrm>
            <a:off x="762000" y="4000500"/>
            <a:ext cx="464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Raw-sensor MAE</a:t>
            </a:r>
            <a:endParaRPr lang="en-US" sz="1600"/>
          </a:p>
        </p:txBody>
      </p:sp>
      <p:sp>
        <p:nvSpPr>
          <p:cNvPr id="23" name="Shape 23"/>
          <p:cNvSpPr/>
          <p:nvPr/>
        </p:nvSpPr>
        <p:spPr>
          <a:xfrm>
            <a:off x="5715000" y="4000500"/>
            <a:ext cx="198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0.2482</a:t>
            </a:r>
            <a:endParaRPr lang="en-US" sz="1600"/>
          </a:p>
        </p:txBody>
      </p:sp>
      <p:sp>
        <p:nvSpPr>
          <p:cNvPr id="24" name="Shape 24"/>
          <p:cNvSpPr/>
          <p:nvPr/>
        </p:nvSpPr>
        <p:spPr>
          <a:xfrm>
            <a:off x="8001000" y="4000500"/>
            <a:ext cx="342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0.2383</a:t>
            </a:r>
            <a:endParaRPr lang="en-US" sz="1600"/>
          </a:p>
        </p:txBody>
      </p:sp>
      <p:sp>
        <p:nvSpPr>
          <p:cNvPr id="25" name="Shape 25"/>
          <p:cNvSpPr/>
          <p:nvPr/>
        </p:nvSpPr>
        <p:spPr>
          <a:xfrm>
            <a:off x="609600" y="4495800"/>
            <a:ext cx="10972800" cy="647700"/>
          </a:xfrm>
          <a:prstGeom prst="rect">
            <a:avLst/>
          </a:prstGeom>
          <a:solidFill>
            <a:srgbClr val="0B1220"/>
          </a:solidFill>
          <a:ln>
            <a:noFill/>
          </a:ln>
        </p:spPr>
      </p:sp>
      <p:sp>
        <p:nvSpPr>
          <p:cNvPr id="26" name="Shape 26"/>
          <p:cNvSpPr/>
          <p:nvPr/>
        </p:nvSpPr>
        <p:spPr>
          <a:xfrm>
            <a:off x="762000" y="4648200"/>
            <a:ext cx="464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RUL prediction (pooled)</a:t>
            </a:r>
            <a:endParaRPr lang="en-US" sz="1600"/>
          </a:p>
        </p:txBody>
      </p:sp>
      <p:sp>
        <p:nvSpPr>
          <p:cNvPr id="27" name="Shape 27"/>
          <p:cNvSpPr/>
          <p:nvPr/>
        </p:nvSpPr>
        <p:spPr>
          <a:xfrm>
            <a:off x="5715000" y="4648200"/>
            <a:ext cx="198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Separate task</a:t>
            </a:r>
            <a:endParaRPr lang="en-US" sz="1600"/>
          </a:p>
        </p:txBody>
      </p:sp>
      <p:sp>
        <p:nvSpPr>
          <p:cNvPr id="28" name="Shape 28"/>
          <p:cNvSpPr/>
          <p:nvPr/>
        </p:nvSpPr>
        <p:spPr>
          <a:xfrm>
            <a:off x="8001000" y="4648200"/>
            <a:ext cx="342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R² 0.3954; RMSE 37.69 cycles</a:t>
            </a:r>
            <a:endParaRPr lang="en-US" sz="1600"/>
          </a:p>
        </p:txBody>
      </p:sp>
      <p:sp>
        <p:nvSpPr>
          <p:cNvPr id="29" name="Shape 29"/>
          <p:cNvSpPr/>
          <p:nvPr/>
        </p:nvSpPr>
        <p:spPr>
          <a:xfrm>
            <a:off x="609600" y="5575300"/>
            <a:ext cx="10972800" cy="520700"/>
          </a:xfrm>
          <a:prstGeom prst="roundRect">
            <a:avLst/>
          </a:prstGeom>
          <a:solidFill>
            <a:srgbClr val="142238"/>
          </a:solidFill>
          <a:ln>
            <a:noFill/>
          </a:ln>
        </p:spPr>
      </p:sp>
      <p:sp>
        <p:nvSpPr>
          <p:cNvPr id="30" name="Shape 30"/>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The requested official raw-sensor R² of 0.8 has not been reached.</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upervisor economics: simulation evidence">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Supervisor economics: simulation evidence</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Saved policy_evaluation_report.json | 28 simulated test episodes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13</a:t>
            </a:r>
            <a:endParaRPr lang="en-US" sz="1000"/>
          </a:p>
        </p:txBody>
      </p:sp>
      <p:sp>
        <p:nvSpPr>
          <p:cNvPr id="9" name="Shape 9"/>
          <p:cNvSpPr/>
          <p:nvPr/>
        </p:nvSpPr>
        <p:spPr>
          <a:xfrm>
            <a:off x="609600" y="1968500"/>
            <a:ext cx="3505200" cy="1981200"/>
          </a:xfrm>
          <a:prstGeom prst="roundRect">
            <a:avLst/>
          </a:prstGeom>
          <a:solidFill>
            <a:srgbClr val="142238"/>
          </a:solidFill>
          <a:ln>
            <a:noFill/>
          </a:ln>
        </p:spPr>
      </p:sp>
      <p:sp>
        <p:nvSpPr>
          <p:cNvPr id="10" name="Shape 10"/>
          <p:cNvSpPr/>
          <p:nvPr/>
        </p:nvSpPr>
        <p:spPr>
          <a:xfrm>
            <a:off x="825500" y="2235200"/>
            <a:ext cx="3073400" cy="850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28</a:t>
            </a:r>
            <a:endParaRPr lang="en-US" sz="4200"/>
          </a:p>
        </p:txBody>
      </p:sp>
      <p:sp>
        <p:nvSpPr>
          <p:cNvPr id="11" name="Shape 11"/>
          <p:cNvSpPr/>
          <p:nvPr/>
        </p:nvSpPr>
        <p:spPr>
          <a:xfrm>
            <a:off x="825500" y="3213100"/>
            <a:ext cx="3073400" cy="5588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Offline test engines</a:t>
            </a:r>
            <a:endParaRPr lang="en-US" sz="1700"/>
          </a:p>
        </p:txBody>
      </p:sp>
      <p:sp>
        <p:nvSpPr>
          <p:cNvPr id="12" name="Shape 12"/>
          <p:cNvSpPr/>
          <p:nvPr/>
        </p:nvSpPr>
        <p:spPr>
          <a:xfrm>
            <a:off x="4343400" y="1968500"/>
            <a:ext cx="3505200" cy="1981200"/>
          </a:xfrm>
          <a:prstGeom prst="roundRect">
            <a:avLst/>
          </a:prstGeom>
          <a:solidFill>
            <a:srgbClr val="142238"/>
          </a:solidFill>
          <a:ln>
            <a:noFill/>
          </a:ln>
        </p:spPr>
      </p:sp>
      <p:sp>
        <p:nvSpPr>
          <p:cNvPr id="13" name="Shape 13"/>
          <p:cNvSpPr/>
          <p:nvPr/>
        </p:nvSpPr>
        <p:spPr>
          <a:xfrm>
            <a:off x="4559300" y="2235200"/>
            <a:ext cx="3073400" cy="850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0 / 28</a:t>
            </a:r>
            <a:endParaRPr lang="en-US" sz="4200"/>
          </a:p>
        </p:txBody>
      </p:sp>
      <p:sp>
        <p:nvSpPr>
          <p:cNvPr id="14" name="Shape 14"/>
          <p:cNvSpPr/>
          <p:nvPr/>
        </p:nvSpPr>
        <p:spPr>
          <a:xfrm>
            <a:off x="4559300" y="3213100"/>
            <a:ext cx="3073400" cy="5588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Simulated failures</a:t>
            </a:r>
            <a:endParaRPr lang="en-US" sz="1700"/>
          </a:p>
        </p:txBody>
      </p:sp>
      <p:sp>
        <p:nvSpPr>
          <p:cNvPr id="15" name="Shape 15"/>
          <p:cNvSpPr/>
          <p:nvPr/>
        </p:nvSpPr>
        <p:spPr>
          <a:xfrm>
            <a:off x="8077200" y="1968500"/>
            <a:ext cx="3505200" cy="1981200"/>
          </a:xfrm>
          <a:prstGeom prst="roundRect">
            <a:avLst/>
          </a:prstGeom>
          <a:solidFill>
            <a:srgbClr val="142238"/>
          </a:solidFill>
          <a:ln>
            <a:noFill/>
          </a:ln>
        </p:spPr>
      </p:sp>
      <p:sp>
        <p:nvSpPr>
          <p:cNvPr id="16" name="Shape 16"/>
          <p:cNvSpPr/>
          <p:nvPr/>
        </p:nvSpPr>
        <p:spPr>
          <a:xfrm>
            <a:off x="8293100" y="2235200"/>
            <a:ext cx="3073400" cy="850900"/>
          </a:xfrm>
          <a:prstGeom prst="rect">
            <a:avLst/>
          </a:prstGeom>
          <a:noFill/>
          <a:ln>
            <a:noFill/>
          </a:ln>
        </p:spPr>
        <p:txBody>
          <a:bodyPr wrap="none" lIns="0" tIns="0" rIns="0" bIns="0" anchor="t">
            <a:noAutofit/>
          </a:bodyPr>
          <a:lstStyle/>
          <a:p>
            <a:pPr algn="l">
              <a:lnSpc>
                <a:spcPts val="5208"/>
              </a:lnSpc>
              <a:spcAft>
                <a:spcPts val="0"/>
              </a:spcAft>
            </a:pPr>
            <a:r>
              <a:rPr lang="en-US" sz="4200" b="1">
                <a:solidFill>
                  <a:srgbClr val="40D9CD"/>
                </a:solidFill>
                <a:latin typeface="Arial"/>
              </a:rPr>
              <a:t xml:space="preserve">78.98%</a:t>
            </a:r>
            <a:endParaRPr lang="en-US" sz="4200"/>
          </a:p>
        </p:txBody>
      </p:sp>
      <p:sp>
        <p:nvSpPr>
          <p:cNvPr id="17" name="Shape 17"/>
          <p:cNvSpPr/>
          <p:nvPr/>
        </p:nvSpPr>
        <p:spPr>
          <a:xfrm>
            <a:off x="8293100" y="3213100"/>
            <a:ext cx="3073400" cy="5588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Simulated cost reduction</a:t>
            </a:r>
            <a:endParaRPr lang="en-US" sz="1700"/>
          </a:p>
        </p:txBody>
      </p:sp>
      <p:sp>
        <p:nvSpPr>
          <p:cNvPr id="18" name="Shape 18"/>
          <p:cNvSpPr/>
          <p:nvPr/>
        </p:nvSpPr>
        <p:spPr>
          <a:xfrm>
            <a:off x="609600" y="4318000"/>
            <a:ext cx="10972800" cy="7747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F2F6FC"/>
                </a:solidFill>
                <a:latin typeface="Arial"/>
              </a:rPr>
              <a:t xml:space="preserve">Comparison: reactive baseline. Rule-based policy also had zero simulated failures.</a:t>
            </a:r>
            <a:endParaRPr lang="en-US" sz="2100"/>
          </a:p>
        </p:txBody>
      </p:sp>
      <p:sp>
        <p:nvSpPr>
          <p:cNvPr id="19" name="Shape 19"/>
          <p:cNvSpPr/>
          <p:nvPr/>
        </p:nvSpPr>
        <p:spPr>
          <a:xfrm>
            <a:off x="609600" y="5575300"/>
            <a:ext cx="10972800" cy="520700"/>
          </a:xfrm>
          <a:prstGeom prst="roundRect">
            <a:avLst/>
          </a:prstGeom>
          <a:solidFill>
            <a:srgbClr val="142238"/>
          </a:solidFill>
          <a:ln>
            <a:noFill/>
          </a:ln>
        </p:spPr>
      </p:sp>
      <p:sp>
        <p:nvSpPr>
          <p:cNvPr id="20" name="Shape 20"/>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Simulation outcomes depend on assumed costs and downtime; customer ROI is not validated.</a:t>
            </a:r>
            <a:endParaRPr 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What is validated, and what still needs work">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What is validated, and what still needs work</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Forecast verification + saved RUL evaluation; production roadmap proposals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14</a:t>
            </a:r>
            <a:endParaRPr lang="en-US" sz="1000"/>
          </a:p>
        </p:txBody>
      </p:sp>
      <p:sp>
        <p:nvSpPr>
          <p:cNvPr id="9" name="Shape 9"/>
          <p:cNvSpPr/>
          <p:nvPr/>
        </p:nvSpPr>
        <p:spPr>
          <a:xfrm>
            <a:off x="609600" y="1917700"/>
            <a:ext cx="5194300" cy="33655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47371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Verified in the local project</a:t>
            </a:r>
            <a:endParaRPr lang="en-US" sz="1900"/>
          </a:p>
        </p:txBody>
      </p:sp>
      <p:sp>
        <p:nvSpPr>
          <p:cNvPr id="12" name="Shape 12"/>
          <p:cNvSpPr/>
          <p:nvPr/>
        </p:nvSpPr>
        <p:spPr>
          <a:xfrm>
            <a:off x="838200" y="3213100"/>
            <a:ext cx="4737100" cy="1905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150 forecast/regression tests pass.</a:t>
            </a:r>
            <a:endParaRPr lang="en-US" sz="1700"/>
          </a:p>
          <a:p>
            <a:pPr algn="l">
              <a:lnSpc>
                <a:spcPts val="2108"/>
              </a:lnSpc>
              <a:spcAft>
                <a:spcPts val="0"/>
              </a:spcAft>
            </a:pPr>
            <a:r>
              <a:rPr lang="en-US" sz="1700" b="0">
                <a:solidFill>
                  <a:srgbClr val="A9B8CC"/>
                </a:solidFill>
                <a:latin typeface="Arial"/>
              </a:rPr>
              <a:t xml:space="preserve">Normal retraining reproduces the candidate.</a:t>
            </a:r>
            <a:endParaRPr lang="en-US" sz="1700"/>
          </a:p>
          <a:p>
            <a:pPr algn="l">
              <a:lnSpc>
                <a:spcPts val="2108"/>
              </a:lnSpc>
              <a:spcAft>
                <a:spcPts val="0"/>
              </a:spcAft>
            </a:pPr>
            <a:r>
              <a:rPr lang="en-US" sz="1700" b="0">
                <a:solidFill>
                  <a:srgbClr val="A9B8CC"/>
                </a:solidFill>
                <a:latin typeface="Arial"/>
              </a:rPr>
              <a:t xml:space="preserve">Monitoring outputs remain unchanged.</a:t>
            </a:r>
            <a:endParaRPr lang="en-US" sz="1700"/>
          </a:p>
        </p:txBody>
      </p:sp>
      <p:sp>
        <p:nvSpPr>
          <p:cNvPr id="13" name="Shape 13"/>
          <p:cNvSpPr/>
          <p:nvPr/>
        </p:nvSpPr>
        <p:spPr>
          <a:xfrm>
            <a:off x="6057900" y="1917700"/>
            <a:ext cx="5524500" cy="3365500"/>
          </a:xfrm>
          <a:prstGeom prst="roundRect">
            <a:avLst/>
          </a:prstGeom>
          <a:solidFill>
            <a:srgbClr val="142238"/>
          </a:solidFill>
          <a:ln>
            <a:noFill/>
          </a:ln>
        </p:spPr>
      </p:sp>
      <p:sp>
        <p:nvSpPr>
          <p:cNvPr id="14" name="Shape 14"/>
          <p:cNvSpPr/>
          <p:nvPr/>
        </p:nvSpPr>
        <p:spPr>
          <a:xfrm>
            <a:off x="6286500" y="2159000"/>
            <a:ext cx="406400" cy="38100"/>
          </a:xfrm>
          <a:prstGeom prst="rect">
            <a:avLst/>
          </a:prstGeom>
          <a:solidFill>
            <a:srgbClr val="F1C56C"/>
          </a:solidFill>
          <a:ln>
            <a:noFill/>
          </a:ln>
        </p:spPr>
      </p:sp>
      <p:sp>
        <p:nvSpPr>
          <p:cNvPr id="15" name="Shape 15"/>
          <p:cNvSpPr/>
          <p:nvPr/>
        </p:nvSpPr>
        <p:spPr>
          <a:xfrm>
            <a:off x="6286500" y="2349500"/>
            <a:ext cx="50673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Before operational adoption</a:t>
            </a:r>
            <a:endParaRPr lang="en-US" sz="1900"/>
          </a:p>
        </p:txBody>
      </p:sp>
      <p:sp>
        <p:nvSpPr>
          <p:cNvPr id="16" name="Shape 16"/>
          <p:cNvSpPr/>
          <p:nvPr/>
        </p:nvSpPr>
        <p:spPr>
          <a:xfrm>
            <a:off x="6286500" y="3213100"/>
            <a:ext cx="5067300" cy="19050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Improve multi-condition RUL accuracy and interval</a:t>
            </a:r>
            <a:endParaRPr lang="en-US" sz="1700"/>
          </a:p>
          <a:p>
            <a:pPr algn="l">
              <a:lnSpc>
                <a:spcPts val="2108"/>
              </a:lnSpc>
              <a:spcAft>
                <a:spcPts val="0"/>
              </a:spcAft>
            </a:pPr>
            <a:r>
              <a:rPr lang="en-US" sz="1700" b="0">
                <a:solidFill>
                  <a:srgbClr val="A9B8CC"/>
                </a:solidFill>
                <a:latin typeface="Arial"/>
              </a:rPr>
              <a:t xml:space="preserve">calibration. Validate real fleet data, alert burden and</a:t>
            </a:r>
            <a:endParaRPr lang="en-US" sz="1700"/>
          </a:p>
          <a:p>
            <a:pPr algn="l">
              <a:lnSpc>
                <a:spcPts val="2108"/>
              </a:lnSpc>
              <a:spcAft>
                <a:spcPts val="0"/>
              </a:spcAft>
            </a:pPr>
            <a:r>
              <a:rPr lang="en-US" sz="1700" b="0">
                <a:solidFill>
                  <a:srgbClr val="A9B8CC"/>
                </a:solidFill>
                <a:latin typeface="Arial"/>
              </a:rPr>
              <a:t xml:space="preserve">workflow integration.</a:t>
            </a:r>
            <a:endParaRPr lang="en-US" sz="1700"/>
          </a:p>
        </p:txBody>
      </p:sp>
      <p:sp>
        <p:nvSpPr>
          <p:cNvPr id="17" name="Shape 17"/>
          <p:cNvSpPr/>
          <p:nvPr/>
        </p:nvSpPr>
        <p:spPr>
          <a:xfrm>
            <a:off x="609600" y="5575300"/>
            <a:ext cx="10972800" cy="520700"/>
          </a:xfrm>
          <a:prstGeom prst="roundRect">
            <a:avLst/>
          </a:prstGeom>
          <a:solidFill>
            <a:srgbClr val="142238"/>
          </a:solidFill>
          <a:ln>
            <a:noFill/>
          </a:ln>
        </p:spPr>
      </p:sp>
      <p:sp>
        <p:nvSpPr>
          <p:cNvPr id="18" name="Shape 18"/>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Current maturity: integrated research prototype, ready for a controlled advisory pilot.</a:t>
            </a:r>
            <a:endParaRPr 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From prototype to a deployable pilot">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From prototype to a deployable pilot</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Gap analysis from repository implementation; proposed roadmap</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15</a:t>
            </a:r>
            <a:endParaRPr lang="en-US" sz="1000"/>
          </a:p>
        </p:txBody>
      </p:sp>
      <p:sp>
        <p:nvSpPr>
          <p:cNvPr id="9" name="Shape 9"/>
          <p:cNvSpPr/>
          <p:nvPr/>
        </p:nvSpPr>
        <p:spPr>
          <a:xfrm>
            <a:off x="609600" y="1917700"/>
            <a:ext cx="3505200" cy="33909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Data + model readiness</a:t>
            </a:r>
            <a:endParaRPr lang="en-US" sz="1900"/>
          </a:p>
        </p:txBody>
      </p:sp>
      <p:sp>
        <p:nvSpPr>
          <p:cNvPr id="12" name="Shape 12"/>
          <p:cNvSpPr/>
          <p:nvPr/>
        </p:nvSpPr>
        <p:spPr>
          <a:xfrm>
            <a:off x="8382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Prospective holdout data, sensor</a:t>
            </a:r>
            <a:endParaRPr lang="en-US" sz="1600"/>
          </a:p>
          <a:p>
            <a:pPr algn="l">
              <a:lnSpc>
                <a:spcPts val="1984"/>
              </a:lnSpc>
              <a:spcAft>
                <a:spcPts val="0"/>
              </a:spcAft>
            </a:pPr>
            <a:r>
              <a:rPr lang="en-US" sz="1600" b="0">
                <a:solidFill>
                  <a:srgbClr val="A9B8CC"/>
                </a:solidFill>
                <a:latin typeface="Arial"/>
              </a:rPr>
              <a:t xml:space="preserve">mapping, missing-data tests,</a:t>
            </a:r>
            <a:endParaRPr lang="en-US" sz="1600"/>
          </a:p>
          <a:p>
            <a:pPr algn="l">
              <a:lnSpc>
                <a:spcPts val="1984"/>
              </a:lnSpc>
              <a:spcAft>
                <a:spcPts val="0"/>
              </a:spcAft>
            </a:pPr>
            <a:r>
              <a:rPr lang="en-US" sz="1600" b="0">
                <a:solidFill>
                  <a:srgbClr val="A9B8CC"/>
                </a:solidFill>
                <a:latin typeface="Arial"/>
              </a:rPr>
              <a:t xml:space="preserve">calibration and drift checks.</a:t>
            </a:r>
            <a:endParaRPr lang="en-US" sz="1600"/>
          </a:p>
        </p:txBody>
      </p:sp>
      <p:sp>
        <p:nvSpPr>
          <p:cNvPr id="13" name="Shape 13"/>
          <p:cNvSpPr/>
          <p:nvPr/>
        </p:nvSpPr>
        <p:spPr>
          <a:xfrm>
            <a:off x="4343400" y="1917700"/>
            <a:ext cx="3505200" cy="3390900"/>
          </a:xfrm>
          <a:prstGeom prst="roundRect">
            <a:avLst/>
          </a:prstGeom>
          <a:solidFill>
            <a:srgbClr val="142238"/>
          </a:solidFill>
          <a:ln>
            <a:noFill/>
          </a:ln>
        </p:spPr>
      </p:sp>
      <p:sp>
        <p:nvSpPr>
          <p:cNvPr id="14" name="Shape 14"/>
          <p:cNvSpPr/>
          <p:nvPr/>
        </p:nvSpPr>
        <p:spPr>
          <a:xfrm>
            <a:off x="4572000" y="2159000"/>
            <a:ext cx="406400" cy="38100"/>
          </a:xfrm>
          <a:prstGeom prst="rect">
            <a:avLst/>
          </a:prstGeom>
          <a:solidFill>
            <a:srgbClr val="6FADFF"/>
          </a:solidFill>
          <a:ln>
            <a:noFill/>
          </a:ln>
        </p:spPr>
      </p:sp>
      <p:sp>
        <p:nvSpPr>
          <p:cNvPr id="15" name="Shape 15"/>
          <p:cNvSpPr/>
          <p:nvPr/>
        </p:nvSpPr>
        <p:spPr>
          <a:xfrm>
            <a:off x="45720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Operational readiness</a:t>
            </a:r>
            <a:endParaRPr lang="en-US" sz="1900"/>
          </a:p>
        </p:txBody>
      </p:sp>
      <p:sp>
        <p:nvSpPr>
          <p:cNvPr id="16" name="Shape 16"/>
          <p:cNvSpPr/>
          <p:nvPr/>
        </p:nvSpPr>
        <p:spPr>
          <a:xfrm>
            <a:off x="45720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Authentication, audit logging,</a:t>
            </a:r>
            <a:endParaRPr lang="en-US" sz="1600"/>
          </a:p>
          <a:p>
            <a:pPr algn="l">
              <a:lnSpc>
                <a:spcPts val="1984"/>
              </a:lnSpc>
              <a:spcAft>
                <a:spcPts val="0"/>
              </a:spcAft>
            </a:pPr>
            <a:r>
              <a:rPr lang="en-US" sz="1600" b="0">
                <a:solidFill>
                  <a:srgbClr val="A9B8CC"/>
                </a:solidFill>
                <a:latin typeface="Arial"/>
              </a:rPr>
              <a:t xml:space="preserve">monitoring, deployment</a:t>
            </a:r>
            <a:endParaRPr lang="en-US" sz="1600"/>
          </a:p>
          <a:p>
            <a:pPr algn="l">
              <a:lnSpc>
                <a:spcPts val="1984"/>
              </a:lnSpc>
              <a:spcAft>
                <a:spcPts val="0"/>
              </a:spcAft>
            </a:pPr>
            <a:r>
              <a:rPr lang="en-US" sz="1600" b="0">
                <a:solidFill>
                  <a:srgbClr val="A9B8CC"/>
                </a:solidFill>
                <a:latin typeface="Arial"/>
              </a:rPr>
              <a:t xml:space="preserve">packaging and measured</a:t>
            </a:r>
            <a:endParaRPr lang="en-US" sz="1600"/>
          </a:p>
          <a:p>
            <a:pPr algn="l">
              <a:lnSpc>
                <a:spcPts val="1984"/>
              </a:lnSpc>
              <a:spcAft>
                <a:spcPts val="0"/>
              </a:spcAft>
            </a:pPr>
            <a:r>
              <a:rPr lang="en-US" sz="1600" b="0">
                <a:solidFill>
                  <a:srgbClr val="A9B8CC"/>
                </a:solidFill>
                <a:latin typeface="Arial"/>
              </a:rPr>
              <a:t xml:space="preserve">latency.</a:t>
            </a:r>
            <a:endParaRPr lang="en-US" sz="1600"/>
          </a:p>
        </p:txBody>
      </p:sp>
      <p:sp>
        <p:nvSpPr>
          <p:cNvPr id="17" name="Shape 17"/>
          <p:cNvSpPr/>
          <p:nvPr/>
        </p:nvSpPr>
        <p:spPr>
          <a:xfrm>
            <a:off x="8077200" y="1917700"/>
            <a:ext cx="3505200" cy="3390900"/>
          </a:xfrm>
          <a:prstGeom prst="roundRect">
            <a:avLst/>
          </a:prstGeom>
          <a:solidFill>
            <a:srgbClr val="142238"/>
          </a:solidFill>
          <a:ln>
            <a:noFill/>
          </a:ln>
        </p:spPr>
      </p:sp>
      <p:sp>
        <p:nvSpPr>
          <p:cNvPr id="18" name="Shape 18"/>
          <p:cNvSpPr/>
          <p:nvPr/>
        </p:nvSpPr>
        <p:spPr>
          <a:xfrm>
            <a:off x="8305800" y="2159000"/>
            <a:ext cx="406400" cy="38100"/>
          </a:xfrm>
          <a:prstGeom prst="rect">
            <a:avLst/>
          </a:prstGeom>
          <a:solidFill>
            <a:srgbClr val="F1C56C"/>
          </a:solidFill>
          <a:ln>
            <a:noFill/>
          </a:ln>
        </p:spPr>
      </p:sp>
      <p:sp>
        <p:nvSpPr>
          <p:cNvPr id="19" name="Shape 19"/>
          <p:cNvSpPr/>
          <p:nvPr/>
        </p:nvSpPr>
        <p:spPr>
          <a:xfrm>
            <a:off x="83058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Workflow readiness</a:t>
            </a:r>
            <a:endParaRPr lang="en-US" sz="1900"/>
          </a:p>
        </p:txBody>
      </p:sp>
      <p:sp>
        <p:nvSpPr>
          <p:cNvPr id="20" name="Shape 20"/>
          <p:cNvSpPr/>
          <p:nvPr/>
        </p:nvSpPr>
        <p:spPr>
          <a:xfrm>
            <a:off x="8305800" y="3213100"/>
            <a:ext cx="3048000" cy="19304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A9B8CC"/>
                </a:solidFill>
                <a:latin typeface="Arial"/>
              </a:rPr>
              <a:t xml:space="preserve">Engineer approval, maintenance</a:t>
            </a:r>
            <a:endParaRPr lang="en-US" sz="1600"/>
          </a:p>
          <a:p>
            <a:pPr algn="l">
              <a:lnSpc>
                <a:spcPts val="1984"/>
              </a:lnSpc>
              <a:spcAft>
                <a:spcPts val="0"/>
              </a:spcAft>
            </a:pPr>
            <a:r>
              <a:rPr lang="en-US" sz="1600" b="0">
                <a:solidFill>
                  <a:srgbClr val="A9B8CC"/>
                </a:solidFill>
                <a:latin typeface="Arial"/>
              </a:rPr>
              <a:t xml:space="preserve">records, work-order integration</a:t>
            </a:r>
            <a:endParaRPr lang="en-US" sz="1600"/>
          </a:p>
          <a:p>
            <a:pPr algn="l">
              <a:lnSpc>
                <a:spcPts val="1984"/>
              </a:lnSpc>
              <a:spcAft>
                <a:spcPts val="0"/>
              </a:spcAft>
            </a:pPr>
            <a:r>
              <a:rPr lang="en-US" sz="1600" b="0">
                <a:solidFill>
                  <a:srgbClr val="A9B8CC"/>
                </a:solidFill>
                <a:latin typeface="Arial"/>
              </a:rPr>
              <a:t xml:space="preserve">and accountable ownership.</a:t>
            </a:r>
            <a:endParaRPr lang="en-US" sz="16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Pilot release gate: evidence quality + workflow safety + reproducible deployment.</a:t>
            </a:r>
            <a:endParaRPr 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Evidence used in this presentation">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PRODUCT</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Evidence used in this presentation</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Full paths and external references are included in speaker notes and the companion notes file</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16</a:t>
            </a:r>
            <a:endParaRPr lang="en-US" sz="1000"/>
          </a:p>
        </p:txBody>
      </p:sp>
      <p:sp>
        <p:nvSpPr>
          <p:cNvPr id="9" name="Shape 9"/>
          <p:cNvSpPr/>
          <p:nvPr/>
        </p:nvSpPr>
        <p:spPr>
          <a:xfrm>
            <a:off x="609600" y="1917700"/>
            <a:ext cx="5080000" cy="4064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40D9CD"/>
                </a:solidFill>
                <a:latin typeface="Arial"/>
              </a:rPr>
              <a:t xml:space="preserve">Implementation</a:t>
            </a:r>
            <a:endParaRPr lang="en-US" sz="2100"/>
          </a:p>
        </p:txBody>
      </p:sp>
      <p:sp>
        <p:nvSpPr>
          <p:cNvPr id="10" name="Shape 10"/>
          <p:cNvSpPr/>
          <p:nvPr/>
        </p:nvSpPr>
        <p:spPr>
          <a:xfrm>
            <a:off x="609600" y="2489200"/>
            <a:ext cx="10693400" cy="889000"/>
          </a:xfrm>
          <a:prstGeom prst="rect">
            <a:avLst/>
          </a:prstGeom>
          <a:noFill/>
          <a:ln>
            <a:noFill/>
          </a:ln>
        </p:spPr>
        <p:txBody>
          <a:bodyPr wrap="none" lIns="0" tIns="0" rIns="0" bIns="0" anchor="t">
            <a:noAutofit/>
          </a:bodyPr>
          <a:lstStyle/>
          <a:p>
            <a:pPr algn="l">
              <a:lnSpc>
                <a:spcPts val="2356"/>
              </a:lnSpc>
              <a:spcAft>
                <a:spcPts val="0"/>
              </a:spcAft>
            </a:pPr>
            <a:r>
              <a:rPr lang="en-US" sz="1900" b="0">
                <a:solidFill>
                  <a:srgbClr val="F2F6FC"/>
                </a:solidFill>
                <a:latin typeface="Arial"/>
              </a:rPr>
              <a:t xml:space="preserve">FastAPI integration + four component services</a:t>
            </a:r>
            <a:endParaRPr lang="en-US" sz="1900"/>
          </a:p>
          <a:p>
            <a:pPr algn="l">
              <a:lnSpc>
                <a:spcPts val="2356"/>
              </a:lnSpc>
              <a:spcAft>
                <a:spcPts val="0"/>
              </a:spcAft>
            </a:pPr>
            <a:r>
              <a:rPr lang="en-US" sz="1900" b="0">
                <a:solidFill>
                  <a:srgbClr val="F2F6FC"/>
                </a:solidFill>
                <a:latin typeface="Arial"/>
              </a:rPr>
              <a:t xml:space="preserve">React / TypeScript operator workspace</a:t>
            </a:r>
            <a:endParaRPr lang="en-US" sz="1900"/>
          </a:p>
        </p:txBody>
      </p:sp>
      <p:sp>
        <p:nvSpPr>
          <p:cNvPr id="11" name="Shape 11"/>
          <p:cNvSpPr/>
          <p:nvPr/>
        </p:nvSpPr>
        <p:spPr>
          <a:xfrm>
            <a:off x="609600" y="3581400"/>
            <a:ext cx="5080000" cy="406400"/>
          </a:xfrm>
          <a:prstGeom prst="rect">
            <a:avLst/>
          </a:prstGeom>
          <a:noFill/>
          <a:ln>
            <a:noFill/>
          </a:ln>
        </p:spPr>
        <p:txBody>
          <a:bodyPr wrap="none" lIns="0" tIns="0" rIns="0" bIns="0" anchor="t">
            <a:noAutofit/>
          </a:bodyPr>
          <a:lstStyle/>
          <a:p>
            <a:pPr algn="l">
              <a:lnSpc>
                <a:spcPts val="2604"/>
              </a:lnSpc>
              <a:spcAft>
                <a:spcPts val="0"/>
              </a:spcAft>
            </a:pPr>
            <a:r>
              <a:rPr lang="en-US" sz="2100" b="1">
                <a:solidFill>
                  <a:srgbClr val="40D9CD"/>
                </a:solidFill>
                <a:latin typeface="Arial"/>
              </a:rPr>
              <a:t xml:space="preserve">Measured evidence</a:t>
            </a:r>
            <a:endParaRPr lang="en-US" sz="2100"/>
          </a:p>
        </p:txBody>
      </p:sp>
      <p:sp>
        <p:nvSpPr>
          <p:cNvPr id="12" name="Shape 12"/>
          <p:cNvSpPr/>
          <p:nvPr/>
        </p:nvSpPr>
        <p:spPr>
          <a:xfrm>
            <a:off x="609600" y="4152900"/>
            <a:ext cx="10668000" cy="965200"/>
          </a:xfrm>
          <a:prstGeom prst="rect">
            <a:avLst/>
          </a:prstGeom>
          <a:noFill/>
          <a:ln>
            <a:noFill/>
          </a:ln>
        </p:spPr>
        <p:txBody>
          <a:bodyPr wrap="none" lIns="0" tIns="0" rIns="0" bIns="0" anchor="t">
            <a:noAutofit/>
          </a:bodyPr>
          <a:lstStyle/>
          <a:p>
            <a:pPr algn="l">
              <a:lnSpc>
                <a:spcPts val="2356"/>
              </a:lnSpc>
              <a:spcAft>
                <a:spcPts val="0"/>
              </a:spcAft>
            </a:pPr>
            <a:r>
              <a:rPr lang="en-US" sz="1900" b="0">
                <a:solidFill>
                  <a:srgbClr val="F2F6FC"/>
                </a:solidFill>
                <a:latin typeface="Arial"/>
              </a:rPr>
              <a:t xml:space="preserve">Locked forecast evaluation; saved RUL metrics; FD002 risk metadata; offline supervisor policy</a:t>
            </a:r>
            <a:endParaRPr lang="en-US" sz="1900"/>
          </a:p>
          <a:p>
            <a:pPr algn="l">
              <a:lnSpc>
                <a:spcPts val="2356"/>
              </a:lnSpc>
              <a:spcAft>
                <a:spcPts val="0"/>
              </a:spcAft>
            </a:pPr>
            <a:r>
              <a:rPr lang="en-US" sz="1900" b="0">
                <a:solidFill>
                  <a:srgbClr val="F2F6FC"/>
                </a:solidFill>
                <a:latin typeface="Arial"/>
              </a:rPr>
              <a:t xml:space="preserve">evaluation.</a:t>
            </a:r>
            <a:endParaRPr lang="en-US" sz="1900"/>
          </a:p>
        </p:txBody>
      </p:sp>
      <p:sp>
        <p:nvSpPr>
          <p:cNvPr id="13" name="Shape 13"/>
          <p:cNvSpPr/>
          <p:nvPr/>
        </p:nvSpPr>
        <p:spPr>
          <a:xfrm>
            <a:off x="609600" y="5575300"/>
            <a:ext cx="10972800" cy="520700"/>
          </a:xfrm>
          <a:prstGeom prst="roundRect">
            <a:avLst/>
          </a:prstGeom>
          <a:solidFill>
            <a:srgbClr val="142238"/>
          </a:solidFill>
          <a:ln>
            <a:noFill/>
          </a:ln>
        </p:spPr>
      </p:sp>
      <p:sp>
        <p:nvSpPr>
          <p:cNvPr id="14" name="Shape 14"/>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External context: NASA C-MAPSS / IBM Maximo APM / Airbus Skywise</a:t>
            </a:r>
            <a:endParaRPr 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ommercialization: start with one buyer">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COMMERCIALIZATION · 1 / 5</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Commercialization: start with one buyer</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Proposed positioning; official IBM Maximo APM and Airbus Skywise descriptions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17</a:t>
            </a:r>
            <a:endParaRPr lang="en-US" sz="1000"/>
          </a:p>
        </p:txBody>
      </p:sp>
      <p:sp>
        <p:nvSpPr>
          <p:cNvPr id="9" name="Shape 9"/>
          <p:cNvSpPr/>
          <p:nvPr/>
        </p:nvSpPr>
        <p:spPr>
          <a:xfrm>
            <a:off x="609600" y="1917700"/>
            <a:ext cx="5194300" cy="33655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47371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Initial buyer</a:t>
            </a:r>
            <a:endParaRPr lang="en-US" sz="1900"/>
          </a:p>
        </p:txBody>
      </p:sp>
      <p:sp>
        <p:nvSpPr>
          <p:cNvPr id="12" name="Shape 12"/>
          <p:cNvSpPr/>
          <p:nvPr/>
        </p:nvSpPr>
        <p:spPr>
          <a:xfrm>
            <a:off x="838200" y="3213100"/>
            <a:ext cx="4737100" cy="19050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MRO or fleet reliability manager with usable</a:t>
            </a:r>
            <a:endParaRPr lang="en-US" sz="1800"/>
          </a:p>
          <a:p>
            <a:pPr algn="l">
              <a:lnSpc>
                <a:spcPts val="2232"/>
              </a:lnSpc>
              <a:spcAft>
                <a:spcPts val="0"/>
              </a:spcAft>
            </a:pPr>
            <a:r>
              <a:rPr lang="en-US" sz="1800" b="0">
                <a:solidFill>
                  <a:srgbClr val="A9B8CC"/>
                </a:solidFill>
                <a:latin typeface="Arial"/>
              </a:rPr>
              <a:t xml:space="preserve">engine data, a defined triage problem and an</a:t>
            </a:r>
            <a:endParaRPr lang="en-US" sz="1800"/>
          </a:p>
          <a:p>
            <a:pPr algn="l">
              <a:lnSpc>
                <a:spcPts val="2232"/>
              </a:lnSpc>
              <a:spcAft>
                <a:spcPts val="0"/>
              </a:spcAft>
            </a:pPr>
            <a:r>
              <a:rPr lang="en-US" sz="1800" b="0">
                <a:solidFill>
                  <a:srgbClr val="A9B8CC"/>
                </a:solidFill>
                <a:latin typeface="Arial"/>
              </a:rPr>
              <a:t xml:space="preserve">engineer champion.</a:t>
            </a:r>
            <a:endParaRPr lang="en-US" sz="1800"/>
          </a:p>
        </p:txBody>
      </p:sp>
      <p:sp>
        <p:nvSpPr>
          <p:cNvPr id="13" name="Shape 13"/>
          <p:cNvSpPr/>
          <p:nvPr/>
        </p:nvSpPr>
        <p:spPr>
          <a:xfrm>
            <a:off x="6057900" y="1917700"/>
            <a:ext cx="5524500" cy="3365500"/>
          </a:xfrm>
          <a:prstGeom prst="roundRect">
            <a:avLst/>
          </a:prstGeom>
          <a:solidFill>
            <a:srgbClr val="142238"/>
          </a:solidFill>
          <a:ln>
            <a:noFill/>
          </a:ln>
        </p:spPr>
      </p:sp>
      <p:sp>
        <p:nvSpPr>
          <p:cNvPr id="14" name="Shape 14"/>
          <p:cNvSpPr/>
          <p:nvPr/>
        </p:nvSpPr>
        <p:spPr>
          <a:xfrm>
            <a:off x="6286500" y="2159000"/>
            <a:ext cx="406400" cy="38100"/>
          </a:xfrm>
          <a:prstGeom prst="rect">
            <a:avLst/>
          </a:prstGeom>
          <a:solidFill>
            <a:srgbClr val="6FADFF"/>
          </a:solidFill>
          <a:ln>
            <a:noFill/>
          </a:ln>
        </p:spPr>
      </p:sp>
      <p:sp>
        <p:nvSpPr>
          <p:cNvPr id="15" name="Shape 15"/>
          <p:cNvSpPr/>
          <p:nvPr/>
        </p:nvSpPr>
        <p:spPr>
          <a:xfrm>
            <a:off x="6286500" y="2349500"/>
            <a:ext cx="50673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Initial offer</a:t>
            </a:r>
            <a:endParaRPr lang="en-US" sz="1900"/>
          </a:p>
        </p:txBody>
      </p:sp>
      <p:sp>
        <p:nvSpPr>
          <p:cNvPr id="16" name="Shape 16"/>
          <p:cNvSpPr/>
          <p:nvPr/>
        </p:nvSpPr>
        <p:spPr>
          <a:xfrm>
            <a:off x="6286500" y="3213100"/>
            <a:ext cx="5067300" cy="19050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A bounded advisory pilot: one fleet or asset</a:t>
            </a:r>
            <a:endParaRPr lang="en-US" sz="1800"/>
          </a:p>
          <a:p>
            <a:pPr algn="l">
              <a:lnSpc>
                <a:spcPts val="2232"/>
              </a:lnSpc>
              <a:spcAft>
                <a:spcPts val="0"/>
              </a:spcAft>
            </a:pPr>
            <a:r>
              <a:rPr lang="en-US" sz="1800" b="0">
                <a:solidFill>
                  <a:srgbClr val="A9B8CC"/>
                </a:solidFill>
                <a:latin typeface="Arial"/>
              </a:rPr>
              <a:t xml:space="preserve">group, one workflow, one baseline and clearly</a:t>
            </a:r>
            <a:endParaRPr lang="en-US" sz="1800"/>
          </a:p>
          <a:p>
            <a:pPr algn="l">
              <a:lnSpc>
                <a:spcPts val="2232"/>
              </a:lnSpc>
              <a:spcAft>
                <a:spcPts val="0"/>
              </a:spcAft>
            </a:pPr>
            <a:r>
              <a:rPr lang="en-US" sz="1800" b="0">
                <a:solidFill>
                  <a:srgbClr val="A9B8CC"/>
                </a:solidFill>
                <a:latin typeface="Arial"/>
              </a:rPr>
              <a:t xml:space="preserve">measured outcomes.</a:t>
            </a:r>
            <a:endParaRPr lang="en-US" sz="1800"/>
          </a:p>
        </p:txBody>
      </p:sp>
      <p:sp>
        <p:nvSpPr>
          <p:cNvPr id="17" name="Shape 17"/>
          <p:cNvSpPr/>
          <p:nvPr/>
        </p:nvSpPr>
        <p:spPr>
          <a:xfrm>
            <a:off x="609600" y="5575300"/>
            <a:ext cx="10972800" cy="520700"/>
          </a:xfrm>
          <a:prstGeom prst="roundRect">
            <a:avLst/>
          </a:prstGeom>
          <a:solidFill>
            <a:srgbClr val="142238"/>
          </a:solidFill>
          <a:ln>
            <a:noFill/>
          </a:ln>
        </p:spPr>
      </p:sp>
      <p:sp>
        <p:nvSpPr>
          <p:cNvPr id="18" name="Shape 18"/>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Positioning hypothesis: explainable maintenance triage with a practical integration path.</a:t>
            </a:r>
            <a:endParaRPr 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ommercial offer and proposed pricing">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COMMERCIALIZATION · 2 / 5</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Commercial offer and proposed pricing</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Proposed business assumptions; validate before quoting customers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18</a:t>
            </a:r>
            <a:endParaRPr lang="en-US" sz="1000"/>
          </a:p>
        </p:txBody>
      </p:sp>
      <p:sp>
        <p:nvSpPr>
          <p:cNvPr id="9" name="Shape 9"/>
          <p:cNvSpPr/>
          <p:nvPr/>
        </p:nvSpPr>
        <p:spPr>
          <a:xfrm>
            <a:off x="609600" y="1917700"/>
            <a:ext cx="3505200" cy="33909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Paid pilot</a:t>
            </a:r>
            <a:endParaRPr lang="en-US" sz="1900"/>
          </a:p>
        </p:txBody>
      </p:sp>
      <p:sp>
        <p:nvSpPr>
          <p:cNvPr id="12" name="Shape 12"/>
          <p:cNvSpPr/>
          <p:nvPr/>
        </p:nvSpPr>
        <p:spPr>
          <a:xfrm>
            <a:off x="838200" y="3213100"/>
            <a:ext cx="3048000" cy="19304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8–12 weeks</a:t>
            </a:r>
            <a:endParaRPr lang="en-US" sz="1800"/>
          </a:p>
          <a:p>
            <a:pPr algn="l">
              <a:lnSpc>
                <a:spcPts val="2232"/>
              </a:lnSpc>
              <a:spcAft>
                <a:spcPts val="0"/>
              </a:spcAft>
            </a:pPr>
            <a:r>
              <a:rPr lang="en-US" sz="1800" b="0">
                <a:solidFill>
                  <a:srgbClr val="A9B8CC"/>
                </a:solidFill>
                <a:latin typeface="Arial"/>
              </a:rPr>
              <a:t xml:space="preserve">$5k–$15k</a:t>
            </a:r>
            <a:endParaRPr lang="en-US" sz="1800"/>
          </a:p>
          <a:p>
            <a:pPr algn="l">
              <a:lnSpc>
                <a:spcPts val="2232"/>
              </a:lnSpc>
              <a:spcAft>
                <a:spcPts val="0"/>
              </a:spcAft>
            </a:pPr>
            <a:r>
              <a:rPr lang="en-US" sz="1800" b="0">
                <a:solidFill>
                  <a:srgbClr val="A9B8CC"/>
                </a:solidFill>
                <a:latin typeface="Arial"/>
              </a:rPr>
              <a:t xml:space="preserve">Data audit, shadow</a:t>
            </a:r>
            <a:endParaRPr lang="en-US" sz="1800"/>
          </a:p>
          <a:p>
            <a:pPr algn="l">
              <a:lnSpc>
                <a:spcPts val="2232"/>
              </a:lnSpc>
              <a:spcAft>
                <a:spcPts val="0"/>
              </a:spcAft>
            </a:pPr>
            <a:r>
              <a:rPr lang="en-US" sz="1800" b="0">
                <a:solidFill>
                  <a:srgbClr val="A9B8CC"/>
                </a:solidFill>
                <a:latin typeface="Arial"/>
              </a:rPr>
              <a:t xml:space="preserve">evaluation and evidence</a:t>
            </a:r>
            <a:endParaRPr lang="en-US" sz="1800"/>
          </a:p>
          <a:p>
            <a:pPr algn="l">
              <a:lnSpc>
                <a:spcPts val="2232"/>
              </a:lnSpc>
              <a:spcAft>
                <a:spcPts val="0"/>
              </a:spcAft>
            </a:pPr>
            <a:r>
              <a:rPr lang="en-US" sz="1800" b="0">
                <a:solidFill>
                  <a:srgbClr val="A9B8CC"/>
                </a:solidFill>
                <a:latin typeface="Arial"/>
              </a:rPr>
              <a:t xml:space="preserve">report.</a:t>
            </a:r>
            <a:endParaRPr lang="en-US" sz="1800"/>
          </a:p>
        </p:txBody>
      </p:sp>
      <p:sp>
        <p:nvSpPr>
          <p:cNvPr id="13" name="Shape 13"/>
          <p:cNvSpPr/>
          <p:nvPr/>
        </p:nvSpPr>
        <p:spPr>
          <a:xfrm>
            <a:off x="4343400" y="1917700"/>
            <a:ext cx="3505200" cy="3390900"/>
          </a:xfrm>
          <a:prstGeom prst="roundRect">
            <a:avLst/>
          </a:prstGeom>
          <a:solidFill>
            <a:srgbClr val="142238"/>
          </a:solidFill>
          <a:ln>
            <a:noFill/>
          </a:ln>
        </p:spPr>
      </p:sp>
      <p:sp>
        <p:nvSpPr>
          <p:cNvPr id="14" name="Shape 14"/>
          <p:cNvSpPr/>
          <p:nvPr/>
        </p:nvSpPr>
        <p:spPr>
          <a:xfrm>
            <a:off x="4572000" y="2159000"/>
            <a:ext cx="406400" cy="38100"/>
          </a:xfrm>
          <a:prstGeom prst="rect">
            <a:avLst/>
          </a:prstGeom>
          <a:solidFill>
            <a:srgbClr val="6FADFF"/>
          </a:solidFill>
          <a:ln>
            <a:noFill/>
          </a:ln>
        </p:spPr>
      </p:sp>
      <p:sp>
        <p:nvSpPr>
          <p:cNvPr id="15" name="Shape 15"/>
          <p:cNvSpPr/>
          <p:nvPr/>
        </p:nvSpPr>
        <p:spPr>
          <a:xfrm>
            <a:off x="45720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Subscription hypothesis</a:t>
            </a:r>
            <a:endParaRPr lang="en-US" sz="1900"/>
          </a:p>
        </p:txBody>
      </p:sp>
      <p:sp>
        <p:nvSpPr>
          <p:cNvPr id="16" name="Shape 16"/>
          <p:cNvSpPr/>
          <p:nvPr/>
        </p:nvSpPr>
        <p:spPr>
          <a:xfrm>
            <a:off x="45720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$1,000/site/month</a:t>
            </a:r>
            <a:endParaRPr lang="en-US" sz="1700"/>
          </a:p>
          <a:p>
            <a:pPr algn="l">
              <a:lnSpc>
                <a:spcPts val="2108"/>
              </a:lnSpc>
              <a:spcAft>
                <a:spcPts val="0"/>
              </a:spcAft>
            </a:pPr>
            <a:r>
              <a:rPr lang="en-US" sz="1700" b="0">
                <a:solidFill>
                  <a:srgbClr val="A9B8CC"/>
                </a:solidFill>
                <a:latin typeface="Arial"/>
              </a:rPr>
              <a:t xml:space="preserve">+ $20/engine/month</a:t>
            </a:r>
            <a:endParaRPr lang="en-US" sz="1700"/>
          </a:p>
          <a:p>
            <a:pPr algn="l">
              <a:lnSpc>
                <a:spcPts val="2108"/>
              </a:lnSpc>
              <a:spcAft>
                <a:spcPts val="0"/>
              </a:spcAft>
            </a:pPr>
            <a:r>
              <a:rPr lang="en-US" sz="1700" b="0">
                <a:solidFill>
                  <a:srgbClr val="A9B8CC"/>
                </a:solidFill>
                <a:latin typeface="Arial"/>
              </a:rPr>
              <a:t xml:space="preserve">50 engines: $24k annual</a:t>
            </a:r>
            <a:endParaRPr lang="en-US" sz="1700"/>
          </a:p>
          <a:p>
            <a:pPr algn="l">
              <a:lnSpc>
                <a:spcPts val="2108"/>
              </a:lnSpc>
              <a:spcAft>
                <a:spcPts val="0"/>
              </a:spcAft>
            </a:pPr>
            <a:r>
              <a:rPr lang="en-US" sz="1700" b="0">
                <a:solidFill>
                  <a:srgbClr val="A9B8CC"/>
                </a:solidFill>
                <a:latin typeface="Arial"/>
              </a:rPr>
              <a:t xml:space="preserve">recurring revenue.</a:t>
            </a:r>
            <a:endParaRPr lang="en-US" sz="1700"/>
          </a:p>
        </p:txBody>
      </p:sp>
      <p:sp>
        <p:nvSpPr>
          <p:cNvPr id="17" name="Shape 17"/>
          <p:cNvSpPr/>
          <p:nvPr/>
        </p:nvSpPr>
        <p:spPr>
          <a:xfrm>
            <a:off x="8077200" y="1917700"/>
            <a:ext cx="3505200" cy="3390900"/>
          </a:xfrm>
          <a:prstGeom prst="roundRect">
            <a:avLst/>
          </a:prstGeom>
          <a:solidFill>
            <a:srgbClr val="142238"/>
          </a:solidFill>
          <a:ln>
            <a:noFill/>
          </a:ln>
        </p:spPr>
      </p:sp>
      <p:sp>
        <p:nvSpPr>
          <p:cNvPr id="18" name="Shape 18"/>
          <p:cNvSpPr/>
          <p:nvPr/>
        </p:nvSpPr>
        <p:spPr>
          <a:xfrm>
            <a:off x="8305800" y="2159000"/>
            <a:ext cx="406400" cy="38100"/>
          </a:xfrm>
          <a:prstGeom prst="rect">
            <a:avLst/>
          </a:prstGeom>
          <a:solidFill>
            <a:srgbClr val="F1C56C"/>
          </a:solidFill>
          <a:ln>
            <a:noFill/>
          </a:ln>
        </p:spPr>
      </p:sp>
      <p:sp>
        <p:nvSpPr>
          <p:cNvPr id="19" name="Shape 19"/>
          <p:cNvSpPr/>
          <p:nvPr/>
        </p:nvSpPr>
        <p:spPr>
          <a:xfrm>
            <a:off x="83058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Enterprise options</a:t>
            </a:r>
            <a:endParaRPr lang="en-US" sz="1900"/>
          </a:p>
        </p:txBody>
      </p:sp>
      <p:sp>
        <p:nvSpPr>
          <p:cNvPr id="20" name="Shape 20"/>
          <p:cNvSpPr/>
          <p:nvPr/>
        </p:nvSpPr>
        <p:spPr>
          <a:xfrm>
            <a:off x="8305800" y="3213100"/>
            <a:ext cx="3048000" cy="1930400"/>
          </a:xfrm>
          <a:prstGeom prst="rect">
            <a:avLst/>
          </a:prstGeom>
          <a:noFill/>
          <a:ln>
            <a:noFill/>
          </a:ln>
        </p:spPr>
        <p:txBody>
          <a:bodyPr wrap="none" lIns="0" tIns="0" rIns="0" bIns="0" anchor="t">
            <a:noAutofit/>
          </a:bodyPr>
          <a:lstStyle/>
          <a:p>
            <a:pPr algn="l">
              <a:lnSpc>
                <a:spcPts val="2232"/>
              </a:lnSpc>
              <a:spcAft>
                <a:spcPts val="0"/>
              </a:spcAft>
            </a:pPr>
            <a:r>
              <a:rPr lang="en-US" sz="1800" b="0">
                <a:solidFill>
                  <a:srgbClr val="A9B8CC"/>
                </a:solidFill>
                <a:latin typeface="Arial"/>
              </a:rPr>
              <a:t xml:space="preserve">Partner-specific quote for</a:t>
            </a:r>
            <a:endParaRPr lang="en-US" sz="1800"/>
          </a:p>
          <a:p>
            <a:pPr algn="l">
              <a:lnSpc>
                <a:spcPts val="2232"/>
              </a:lnSpc>
              <a:spcAft>
                <a:spcPts val="0"/>
              </a:spcAft>
            </a:pPr>
            <a:r>
              <a:rPr lang="en-US" sz="1800" b="0">
                <a:solidFill>
                  <a:srgbClr val="A9B8CC"/>
                </a:solidFill>
                <a:latin typeface="Arial"/>
              </a:rPr>
              <a:t xml:space="preserve">private hosting, integrations,</a:t>
            </a:r>
            <a:endParaRPr lang="en-US" sz="1800"/>
          </a:p>
          <a:p>
            <a:pPr algn="l">
              <a:lnSpc>
                <a:spcPts val="2232"/>
              </a:lnSpc>
              <a:spcAft>
                <a:spcPts val="0"/>
              </a:spcAft>
            </a:pPr>
            <a:r>
              <a:rPr lang="en-US" sz="1800" b="0">
                <a:solidFill>
                  <a:srgbClr val="A9B8CC"/>
                </a:solidFill>
                <a:latin typeface="Arial"/>
              </a:rPr>
              <a:t xml:space="preserve">support and assurance work.</a:t>
            </a:r>
            <a:endParaRPr lang="en-US" sz="18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Pricing is illustrative USD; no customers, revenue or willingness to pay are claimed.</a:t>
            </a:r>
            <a:endParaRPr 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Go to market through evidence, then expand">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COMMERCIALIZATION · 3 / 5</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Go to market through evidence, then expand</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Proposed 12-month launch plan; milestones are targets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19</a:t>
            </a:r>
            <a:endParaRPr lang="en-US" sz="1000"/>
          </a:p>
        </p:txBody>
      </p:sp>
      <p:sp>
        <p:nvSpPr>
          <p:cNvPr id="9" name="Shape 9"/>
          <p:cNvSpPr/>
          <p:nvPr/>
        </p:nvSpPr>
        <p:spPr>
          <a:xfrm>
            <a:off x="609600" y="1917700"/>
            <a:ext cx="3505200" cy="33909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Months 0–3</a:t>
            </a:r>
            <a:endParaRPr lang="en-US" sz="1900"/>
          </a:p>
        </p:txBody>
      </p:sp>
      <p:sp>
        <p:nvSpPr>
          <p:cNvPr id="12" name="Shape 12"/>
          <p:cNvSpPr/>
          <p:nvPr/>
        </p:nvSpPr>
        <p:spPr>
          <a:xfrm>
            <a:off x="8382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Interview users.</a:t>
            </a:r>
            <a:endParaRPr lang="en-US" sz="1700"/>
          </a:p>
          <a:p>
            <a:pPr algn="l">
              <a:lnSpc>
                <a:spcPts val="2108"/>
              </a:lnSpc>
              <a:spcAft>
                <a:spcPts val="0"/>
              </a:spcAft>
            </a:pPr>
            <a:r>
              <a:rPr lang="en-US" sz="1700" b="0">
                <a:solidFill>
                  <a:srgbClr val="A9B8CC"/>
                </a:solidFill>
                <a:latin typeface="Arial"/>
              </a:rPr>
              <a:t xml:space="preserve">Secure one design partner.</a:t>
            </a:r>
            <a:endParaRPr lang="en-US" sz="1700"/>
          </a:p>
          <a:p>
            <a:pPr algn="l">
              <a:lnSpc>
                <a:spcPts val="2108"/>
              </a:lnSpc>
              <a:spcAft>
                <a:spcPts val="0"/>
              </a:spcAft>
            </a:pPr>
            <a:r>
              <a:rPr lang="en-US" sz="1700" b="0">
                <a:solidFill>
                  <a:srgbClr val="A9B8CC"/>
                </a:solidFill>
                <a:latin typeface="Arial"/>
              </a:rPr>
              <a:t xml:space="preserve">Agree scope, baseline, data</a:t>
            </a:r>
            <a:endParaRPr lang="en-US" sz="1700"/>
          </a:p>
          <a:p>
            <a:pPr algn="l">
              <a:lnSpc>
                <a:spcPts val="2108"/>
              </a:lnSpc>
              <a:spcAft>
                <a:spcPts val="0"/>
              </a:spcAft>
            </a:pPr>
            <a:r>
              <a:rPr lang="en-US" sz="1700" b="0">
                <a:solidFill>
                  <a:srgbClr val="A9B8CC"/>
                </a:solidFill>
                <a:latin typeface="Arial"/>
              </a:rPr>
              <a:t xml:space="preserve">access and review criteria.</a:t>
            </a:r>
            <a:endParaRPr lang="en-US" sz="1700"/>
          </a:p>
        </p:txBody>
      </p:sp>
      <p:sp>
        <p:nvSpPr>
          <p:cNvPr id="13" name="Shape 13"/>
          <p:cNvSpPr/>
          <p:nvPr/>
        </p:nvSpPr>
        <p:spPr>
          <a:xfrm>
            <a:off x="4343400" y="1917700"/>
            <a:ext cx="3505200" cy="3390900"/>
          </a:xfrm>
          <a:prstGeom prst="roundRect">
            <a:avLst/>
          </a:prstGeom>
          <a:solidFill>
            <a:srgbClr val="142238"/>
          </a:solidFill>
          <a:ln>
            <a:noFill/>
          </a:ln>
        </p:spPr>
      </p:sp>
      <p:sp>
        <p:nvSpPr>
          <p:cNvPr id="14" name="Shape 14"/>
          <p:cNvSpPr/>
          <p:nvPr/>
        </p:nvSpPr>
        <p:spPr>
          <a:xfrm>
            <a:off x="4572000" y="2159000"/>
            <a:ext cx="406400" cy="38100"/>
          </a:xfrm>
          <a:prstGeom prst="rect">
            <a:avLst/>
          </a:prstGeom>
          <a:solidFill>
            <a:srgbClr val="6FADFF"/>
          </a:solidFill>
          <a:ln>
            <a:noFill/>
          </a:ln>
        </p:spPr>
      </p:sp>
      <p:sp>
        <p:nvSpPr>
          <p:cNvPr id="15" name="Shape 15"/>
          <p:cNvSpPr/>
          <p:nvPr/>
        </p:nvSpPr>
        <p:spPr>
          <a:xfrm>
            <a:off x="45720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Months 3–6</a:t>
            </a:r>
            <a:endParaRPr lang="en-US" sz="1900"/>
          </a:p>
        </p:txBody>
      </p:sp>
      <p:sp>
        <p:nvSpPr>
          <p:cNvPr id="16" name="Shape 16"/>
          <p:cNvSpPr/>
          <p:nvPr/>
        </p:nvSpPr>
        <p:spPr>
          <a:xfrm>
            <a:off x="45720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Run an advisory shadow pilot.</a:t>
            </a:r>
            <a:endParaRPr lang="en-US" sz="1700"/>
          </a:p>
          <a:p>
            <a:pPr algn="l">
              <a:lnSpc>
                <a:spcPts val="2108"/>
              </a:lnSpc>
              <a:spcAft>
                <a:spcPts val="0"/>
              </a:spcAft>
            </a:pPr>
            <a:r>
              <a:rPr lang="en-US" sz="1700" b="0">
                <a:solidFill>
                  <a:srgbClr val="A9B8CC"/>
                </a:solidFill>
                <a:latin typeface="Arial"/>
              </a:rPr>
              <a:t xml:space="preserve">Measure lead time, alert burden</a:t>
            </a:r>
            <a:endParaRPr lang="en-US" sz="1700"/>
          </a:p>
          <a:p>
            <a:pPr algn="l">
              <a:lnSpc>
                <a:spcPts val="2108"/>
              </a:lnSpc>
              <a:spcAft>
                <a:spcPts val="0"/>
              </a:spcAft>
            </a:pPr>
            <a:r>
              <a:rPr lang="en-US" sz="1700" b="0">
                <a:solidFill>
                  <a:srgbClr val="A9B8CC"/>
                </a:solidFill>
                <a:latin typeface="Arial"/>
              </a:rPr>
              <a:t xml:space="preserve">and planner effort.</a:t>
            </a:r>
            <a:endParaRPr lang="en-US" sz="1700"/>
          </a:p>
          <a:p>
            <a:pPr algn="l">
              <a:lnSpc>
                <a:spcPts val="2108"/>
              </a:lnSpc>
              <a:spcAft>
                <a:spcPts val="0"/>
              </a:spcAft>
            </a:pPr>
            <a:r>
              <a:rPr lang="en-US" sz="1700" b="0">
                <a:solidFill>
                  <a:srgbClr val="A9B8CC"/>
                </a:solidFill>
                <a:latin typeface="Arial"/>
              </a:rPr>
              <a:t xml:space="preserve">Review every intervention.</a:t>
            </a:r>
            <a:endParaRPr lang="en-US" sz="1700"/>
          </a:p>
        </p:txBody>
      </p:sp>
      <p:sp>
        <p:nvSpPr>
          <p:cNvPr id="17" name="Shape 17"/>
          <p:cNvSpPr/>
          <p:nvPr/>
        </p:nvSpPr>
        <p:spPr>
          <a:xfrm>
            <a:off x="8077200" y="1917700"/>
            <a:ext cx="3505200" cy="3390900"/>
          </a:xfrm>
          <a:prstGeom prst="roundRect">
            <a:avLst/>
          </a:prstGeom>
          <a:solidFill>
            <a:srgbClr val="142238"/>
          </a:solidFill>
          <a:ln>
            <a:noFill/>
          </a:ln>
        </p:spPr>
      </p:sp>
      <p:sp>
        <p:nvSpPr>
          <p:cNvPr id="18" name="Shape 18"/>
          <p:cNvSpPr/>
          <p:nvPr/>
        </p:nvSpPr>
        <p:spPr>
          <a:xfrm>
            <a:off x="8305800" y="2159000"/>
            <a:ext cx="406400" cy="38100"/>
          </a:xfrm>
          <a:prstGeom prst="rect">
            <a:avLst/>
          </a:prstGeom>
          <a:solidFill>
            <a:srgbClr val="F1C56C"/>
          </a:solidFill>
          <a:ln>
            <a:noFill/>
          </a:ln>
        </p:spPr>
      </p:sp>
      <p:sp>
        <p:nvSpPr>
          <p:cNvPr id="19" name="Shape 19"/>
          <p:cNvSpPr/>
          <p:nvPr/>
        </p:nvSpPr>
        <p:spPr>
          <a:xfrm>
            <a:off x="83058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Months 6–12</a:t>
            </a:r>
            <a:endParaRPr lang="en-US" sz="1900"/>
          </a:p>
        </p:txBody>
      </p:sp>
      <p:sp>
        <p:nvSpPr>
          <p:cNvPr id="20" name="Shape 20"/>
          <p:cNvSpPr/>
          <p:nvPr/>
        </p:nvSpPr>
        <p:spPr>
          <a:xfrm>
            <a:off x="83058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Convert if the pilot passes.</a:t>
            </a:r>
            <a:endParaRPr lang="en-US" sz="1700"/>
          </a:p>
          <a:p>
            <a:pPr algn="l">
              <a:lnSpc>
                <a:spcPts val="2108"/>
              </a:lnSpc>
              <a:spcAft>
                <a:spcPts val="0"/>
              </a:spcAft>
            </a:pPr>
            <a:r>
              <a:rPr lang="en-US" sz="1700" b="0">
                <a:solidFill>
                  <a:srgbClr val="A9B8CC"/>
                </a:solidFill>
                <a:latin typeface="Arial"/>
              </a:rPr>
              <a:t xml:space="preserve">Package repeatable</a:t>
            </a:r>
            <a:endParaRPr lang="en-US" sz="1700"/>
          </a:p>
          <a:p>
            <a:pPr algn="l">
              <a:lnSpc>
                <a:spcPts val="2108"/>
              </a:lnSpc>
              <a:spcAft>
                <a:spcPts val="0"/>
              </a:spcAft>
            </a:pPr>
            <a:r>
              <a:rPr lang="en-US" sz="1700" b="0">
                <a:solidFill>
                  <a:srgbClr val="A9B8CC"/>
                </a:solidFill>
                <a:latin typeface="Arial"/>
              </a:rPr>
              <a:t xml:space="preserve">onboarding.</a:t>
            </a:r>
            <a:endParaRPr lang="en-US" sz="1700"/>
          </a:p>
          <a:p>
            <a:pPr algn="l">
              <a:lnSpc>
                <a:spcPts val="2108"/>
              </a:lnSpc>
              <a:spcAft>
                <a:spcPts val="0"/>
              </a:spcAft>
            </a:pPr>
            <a:r>
              <a:rPr lang="en-US" sz="1700" b="0">
                <a:solidFill>
                  <a:srgbClr val="A9B8CC"/>
                </a:solidFill>
                <a:latin typeface="Arial"/>
              </a:rPr>
              <a:t xml:space="preserve">Test with two further partners.</a:t>
            </a:r>
            <a:endParaRPr lang="en-US" sz="17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Pilot exit: prospective evidence, engineer acceptance, buyer approval and a viable delivery cost.</a:t>
            </a:r>
            <a:endParaRPr 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Customer ROI: an explicit testable model">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COMMERCIALIZATION · 4 / 5</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Customer ROI: an explicit testable model</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Illustrative assumptions only; replace every input with customer-validated values</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20</a:t>
            </a:r>
            <a:endParaRPr lang="en-US" sz="1000"/>
          </a:p>
        </p:txBody>
      </p:sp>
      <p:sp>
        <p:nvSpPr>
          <p:cNvPr id="9" name="Shape 9"/>
          <p:cNvSpPr/>
          <p:nvPr/>
        </p:nvSpPr>
        <p:spPr>
          <a:xfrm>
            <a:off x="609600" y="1905000"/>
            <a:ext cx="10972800" cy="647700"/>
          </a:xfrm>
          <a:prstGeom prst="rect">
            <a:avLst/>
          </a:prstGeom>
          <a:solidFill>
            <a:srgbClr val="2B3B52"/>
          </a:solidFill>
          <a:ln>
            <a:noFill/>
          </a:ln>
        </p:spPr>
      </p:sp>
      <p:sp>
        <p:nvSpPr>
          <p:cNvPr id="10" name="Shape 10"/>
          <p:cNvSpPr/>
          <p:nvPr/>
        </p:nvSpPr>
        <p:spPr>
          <a:xfrm>
            <a:off x="762000" y="2057400"/>
            <a:ext cx="45212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Illustrative first-year input</a:t>
            </a:r>
            <a:endParaRPr lang="en-US" sz="1500"/>
          </a:p>
        </p:txBody>
      </p:sp>
      <p:sp>
        <p:nvSpPr>
          <p:cNvPr id="11" name="Shape 11"/>
          <p:cNvSpPr/>
          <p:nvPr/>
        </p:nvSpPr>
        <p:spPr>
          <a:xfrm>
            <a:off x="5588000" y="2057400"/>
            <a:ext cx="33782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Calculation</a:t>
            </a:r>
            <a:endParaRPr lang="en-US" sz="1500"/>
          </a:p>
        </p:txBody>
      </p:sp>
      <p:sp>
        <p:nvSpPr>
          <p:cNvPr id="12" name="Shape 12"/>
          <p:cNvSpPr/>
          <p:nvPr/>
        </p:nvSpPr>
        <p:spPr>
          <a:xfrm>
            <a:off x="9271000" y="2057400"/>
            <a:ext cx="2159000" cy="457200"/>
          </a:xfrm>
          <a:prstGeom prst="rect">
            <a:avLst/>
          </a:prstGeom>
          <a:noFill/>
          <a:ln>
            <a:noFill/>
          </a:ln>
        </p:spPr>
        <p:txBody>
          <a:bodyPr wrap="none" lIns="0" tIns="0" rIns="0" bIns="0" anchor="t">
            <a:noAutofit/>
          </a:bodyPr>
          <a:lstStyle/>
          <a:p>
            <a:pPr algn="l">
              <a:lnSpc>
                <a:spcPts val="1860"/>
              </a:lnSpc>
              <a:spcAft>
                <a:spcPts val="0"/>
              </a:spcAft>
            </a:pPr>
            <a:r>
              <a:rPr lang="en-US" sz="1500" b="1">
                <a:solidFill>
                  <a:srgbClr val="40D9CD"/>
                </a:solidFill>
                <a:latin typeface="Arial"/>
              </a:rPr>
              <a:t xml:space="preserve">Value</a:t>
            </a:r>
            <a:endParaRPr lang="en-US" sz="1500"/>
          </a:p>
        </p:txBody>
      </p:sp>
      <p:sp>
        <p:nvSpPr>
          <p:cNvPr id="13" name="Shape 13"/>
          <p:cNvSpPr/>
          <p:nvPr/>
        </p:nvSpPr>
        <p:spPr>
          <a:xfrm>
            <a:off x="609600" y="2552700"/>
            <a:ext cx="10972800" cy="647700"/>
          </a:xfrm>
          <a:prstGeom prst="rect">
            <a:avLst/>
          </a:prstGeom>
          <a:solidFill>
            <a:srgbClr val="142238"/>
          </a:solidFill>
          <a:ln>
            <a:noFill/>
          </a:ln>
        </p:spPr>
      </p:sp>
      <p:sp>
        <p:nvSpPr>
          <p:cNvPr id="14" name="Shape 14"/>
          <p:cNvSpPr/>
          <p:nvPr/>
        </p:nvSpPr>
        <p:spPr>
          <a:xfrm>
            <a:off x="762000" y="2705100"/>
            <a:ext cx="452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Avoided disruption value</a:t>
            </a:r>
            <a:endParaRPr lang="en-US" sz="1600"/>
          </a:p>
        </p:txBody>
      </p:sp>
      <p:sp>
        <p:nvSpPr>
          <p:cNvPr id="15" name="Shape 15"/>
          <p:cNvSpPr/>
          <p:nvPr/>
        </p:nvSpPr>
        <p:spPr>
          <a:xfrm>
            <a:off x="5588000" y="2705100"/>
            <a:ext cx="337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2 × $25,000</a:t>
            </a:r>
            <a:endParaRPr lang="en-US" sz="1600"/>
          </a:p>
        </p:txBody>
      </p:sp>
      <p:sp>
        <p:nvSpPr>
          <p:cNvPr id="16" name="Shape 16"/>
          <p:cNvSpPr/>
          <p:nvPr/>
        </p:nvSpPr>
        <p:spPr>
          <a:xfrm>
            <a:off x="9271000" y="2705100"/>
            <a:ext cx="215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$50,000</a:t>
            </a:r>
            <a:endParaRPr lang="en-US" sz="1600"/>
          </a:p>
        </p:txBody>
      </p:sp>
      <p:sp>
        <p:nvSpPr>
          <p:cNvPr id="17" name="Shape 17"/>
          <p:cNvSpPr/>
          <p:nvPr/>
        </p:nvSpPr>
        <p:spPr>
          <a:xfrm>
            <a:off x="609600" y="3200400"/>
            <a:ext cx="10972800" cy="647700"/>
          </a:xfrm>
          <a:prstGeom prst="rect">
            <a:avLst/>
          </a:prstGeom>
          <a:solidFill>
            <a:srgbClr val="0B1220"/>
          </a:solidFill>
          <a:ln>
            <a:noFill/>
          </a:ln>
        </p:spPr>
      </p:sp>
      <p:sp>
        <p:nvSpPr>
          <p:cNvPr id="18" name="Shape 18"/>
          <p:cNvSpPr/>
          <p:nvPr/>
        </p:nvSpPr>
        <p:spPr>
          <a:xfrm>
            <a:off x="762000" y="3352800"/>
            <a:ext cx="452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Planner time value</a:t>
            </a:r>
            <a:endParaRPr lang="en-US" sz="1600"/>
          </a:p>
        </p:txBody>
      </p:sp>
      <p:sp>
        <p:nvSpPr>
          <p:cNvPr id="19" name="Shape 19"/>
          <p:cNvSpPr/>
          <p:nvPr/>
        </p:nvSpPr>
        <p:spPr>
          <a:xfrm>
            <a:off x="5588000" y="3352800"/>
            <a:ext cx="337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200 hours × $50</a:t>
            </a:r>
            <a:endParaRPr lang="en-US" sz="1600"/>
          </a:p>
        </p:txBody>
      </p:sp>
      <p:sp>
        <p:nvSpPr>
          <p:cNvPr id="20" name="Shape 20"/>
          <p:cNvSpPr/>
          <p:nvPr/>
        </p:nvSpPr>
        <p:spPr>
          <a:xfrm>
            <a:off x="9271000" y="3352800"/>
            <a:ext cx="215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$10,000</a:t>
            </a:r>
            <a:endParaRPr lang="en-US" sz="1600"/>
          </a:p>
        </p:txBody>
      </p:sp>
      <p:sp>
        <p:nvSpPr>
          <p:cNvPr id="21" name="Shape 21"/>
          <p:cNvSpPr/>
          <p:nvPr/>
        </p:nvSpPr>
        <p:spPr>
          <a:xfrm>
            <a:off x="609600" y="3848100"/>
            <a:ext cx="10972800" cy="647700"/>
          </a:xfrm>
          <a:prstGeom prst="rect">
            <a:avLst/>
          </a:prstGeom>
          <a:solidFill>
            <a:srgbClr val="142238"/>
          </a:solidFill>
          <a:ln>
            <a:noFill/>
          </a:ln>
        </p:spPr>
      </p:sp>
      <p:sp>
        <p:nvSpPr>
          <p:cNvPr id="22" name="Shape 22"/>
          <p:cNvSpPr/>
          <p:nvPr/>
        </p:nvSpPr>
        <p:spPr>
          <a:xfrm>
            <a:off x="762000" y="4000500"/>
            <a:ext cx="452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Subscription + setup</a:t>
            </a:r>
            <a:endParaRPr lang="en-US" sz="1600"/>
          </a:p>
        </p:txBody>
      </p:sp>
      <p:sp>
        <p:nvSpPr>
          <p:cNvPr id="23" name="Shape 23"/>
          <p:cNvSpPr/>
          <p:nvPr/>
        </p:nvSpPr>
        <p:spPr>
          <a:xfrm>
            <a:off x="5588000" y="4000500"/>
            <a:ext cx="337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$24,000 + $10,000</a:t>
            </a:r>
            <a:endParaRPr lang="en-US" sz="1600"/>
          </a:p>
        </p:txBody>
      </p:sp>
      <p:sp>
        <p:nvSpPr>
          <p:cNvPr id="24" name="Shape 24"/>
          <p:cNvSpPr/>
          <p:nvPr/>
        </p:nvSpPr>
        <p:spPr>
          <a:xfrm>
            <a:off x="9271000" y="4000500"/>
            <a:ext cx="215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$34,000</a:t>
            </a:r>
            <a:endParaRPr lang="en-US" sz="1600"/>
          </a:p>
        </p:txBody>
      </p:sp>
      <p:sp>
        <p:nvSpPr>
          <p:cNvPr id="25" name="Shape 25"/>
          <p:cNvSpPr/>
          <p:nvPr/>
        </p:nvSpPr>
        <p:spPr>
          <a:xfrm>
            <a:off x="609600" y="4495800"/>
            <a:ext cx="10972800" cy="647700"/>
          </a:xfrm>
          <a:prstGeom prst="rect">
            <a:avLst/>
          </a:prstGeom>
          <a:solidFill>
            <a:srgbClr val="0B1220"/>
          </a:solidFill>
          <a:ln>
            <a:noFill/>
          </a:ln>
        </p:spPr>
      </p:sp>
      <p:sp>
        <p:nvSpPr>
          <p:cNvPr id="26" name="Shape 26"/>
          <p:cNvSpPr/>
          <p:nvPr/>
        </p:nvSpPr>
        <p:spPr>
          <a:xfrm>
            <a:off x="762000" y="4648200"/>
            <a:ext cx="4521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Net benefit / modeled ROI</a:t>
            </a:r>
            <a:endParaRPr lang="en-US" sz="1600"/>
          </a:p>
        </p:txBody>
      </p:sp>
      <p:sp>
        <p:nvSpPr>
          <p:cNvPr id="27" name="Shape 27"/>
          <p:cNvSpPr/>
          <p:nvPr/>
        </p:nvSpPr>
        <p:spPr>
          <a:xfrm>
            <a:off x="5588000" y="4648200"/>
            <a:ext cx="33782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$60,000 − $34,000</a:t>
            </a:r>
            <a:endParaRPr lang="en-US" sz="1600"/>
          </a:p>
        </p:txBody>
      </p:sp>
      <p:sp>
        <p:nvSpPr>
          <p:cNvPr id="28" name="Shape 28"/>
          <p:cNvSpPr/>
          <p:nvPr/>
        </p:nvSpPr>
        <p:spPr>
          <a:xfrm>
            <a:off x="9271000" y="4648200"/>
            <a:ext cx="2159000" cy="469900"/>
          </a:xfrm>
          <a:prstGeom prst="rect">
            <a:avLst/>
          </a:prstGeom>
          <a:noFill/>
          <a:ln>
            <a:noFill/>
          </a:ln>
        </p:spPr>
        <p:txBody>
          <a:bodyPr wrap="none" lIns="0" tIns="0" rIns="0" bIns="0" anchor="t">
            <a:noAutofit/>
          </a:bodyPr>
          <a:lstStyle/>
          <a:p>
            <a:pPr algn="l">
              <a:lnSpc>
                <a:spcPts val="1984"/>
              </a:lnSpc>
              <a:spcAft>
                <a:spcPts val="0"/>
              </a:spcAft>
            </a:pPr>
            <a:r>
              <a:rPr lang="en-US" sz="1600" b="0">
                <a:solidFill>
                  <a:srgbClr val="F2F6FC"/>
                </a:solidFill>
                <a:latin typeface="Arial"/>
              </a:rPr>
              <a:t xml:space="preserve">$26,000 / 76.5%</a:t>
            </a:r>
            <a:endParaRPr lang="en-US" sz="1600"/>
          </a:p>
        </p:txBody>
      </p:sp>
      <p:sp>
        <p:nvSpPr>
          <p:cNvPr id="29" name="Shape 29"/>
          <p:cNvSpPr/>
          <p:nvPr/>
        </p:nvSpPr>
        <p:spPr>
          <a:xfrm>
            <a:off x="609600" y="5575300"/>
            <a:ext cx="10972800" cy="520700"/>
          </a:xfrm>
          <a:prstGeom prst="roundRect">
            <a:avLst/>
          </a:prstGeom>
          <a:solidFill>
            <a:srgbClr val="142238"/>
          </a:solidFill>
          <a:ln>
            <a:noFill/>
          </a:ln>
        </p:spPr>
      </p:sp>
      <p:sp>
        <p:nvSpPr>
          <p:cNvPr id="30" name="Shape 30"/>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F1C56C"/>
                </a:solidFill>
                <a:latin typeface="Arial"/>
              </a:rPr>
              <a:t xml:space="preserve">Without verified avoided events, this example loses $24k in year one. Validate attribution.</a:t>
            </a:r>
            <a:endParaRPr 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ommercialization plan: earn the right to scale">
    <p:bg>
      <p:bgPr>
        <a:solidFill>
          <a:srgbClr val="0B1220"/>
        </a:solidFill>
        <a:effectLst/>
      </p:bgPr>
    </p:bg>
    <p:spTree>
      <p:nvGrpSpPr>
        <p:cNvPr id="1" name=""/>
        <p:cNvGrpSpPr/>
        <p:nvPr/>
      </p:nvGrpSpPr>
      <p:grpSpPr>
        <a:xfrm>
          <a:off x="0" y="0"/>
          <a:ext cx="0" cy="0"/>
          <a:chOff x="0" y="0"/>
          <a:chExt cx="0" cy="0"/>
        </a:xfrm>
      </p:grpSpPr>
      <p:sp>
        <p:nvSpPr>
          <p:cNvPr id="2" name="Shape 2"/>
          <p:cNvSpPr/>
          <p:nvPr/>
        </p:nvSpPr>
        <p:spPr>
          <a:xfrm>
            <a:off x="0" y="0"/>
            <a:ext cx="101600" cy="6858000"/>
          </a:xfrm>
          <a:prstGeom prst="rect">
            <a:avLst/>
          </a:prstGeom>
          <a:solidFill>
            <a:srgbClr val="40D9CD"/>
          </a:solidFill>
          <a:ln>
            <a:noFill/>
          </a:ln>
        </p:spPr>
      </p:sp>
      <p:sp>
        <p:nvSpPr>
          <p:cNvPr id="3" name="Shape 3"/>
          <p:cNvSpPr/>
          <p:nvPr/>
        </p:nvSpPr>
        <p:spPr>
          <a:xfrm>
            <a:off x="609600" y="292100"/>
            <a:ext cx="3810000" cy="203200"/>
          </a:xfrm>
          <a:prstGeom prst="rect">
            <a:avLst/>
          </a:prstGeom>
          <a:noFill/>
          <a:ln>
            <a:noFill/>
          </a:ln>
        </p:spPr>
        <p:txBody>
          <a:bodyPr wrap="none" lIns="0" tIns="0" rIns="0" bIns="0" anchor="t">
            <a:noAutofit/>
          </a:bodyPr>
          <a:lstStyle/>
          <a:p>
            <a:pPr algn="l">
              <a:lnSpc>
                <a:spcPts val="1364"/>
              </a:lnSpc>
              <a:spcAft>
                <a:spcPts val="0"/>
              </a:spcAft>
            </a:pPr>
            <a:r>
              <a:rPr lang="en-US" sz="1100" b="1">
                <a:solidFill>
                  <a:srgbClr val="40D9CD"/>
                </a:solidFill>
                <a:latin typeface="Arial"/>
              </a:rPr>
              <a:t xml:space="preserve">AEROTWIN OS</a:t>
            </a:r>
            <a:endParaRPr lang="en-US" sz="1100"/>
          </a:p>
        </p:txBody>
      </p:sp>
      <p:sp>
        <p:nvSpPr>
          <p:cNvPr id="4" name="Shape 4"/>
          <p:cNvSpPr/>
          <p:nvPr/>
        </p:nvSpPr>
        <p:spPr>
          <a:xfrm>
            <a:off x="8064500" y="292100"/>
            <a:ext cx="3517900" cy="203200"/>
          </a:xfrm>
          <a:prstGeom prst="rect">
            <a:avLst/>
          </a:prstGeom>
          <a:noFill/>
          <a:ln>
            <a:noFill/>
          </a:ln>
        </p:spPr>
        <p:txBody>
          <a:bodyPr wrap="none" lIns="0" tIns="0" rIns="0" bIns="0" anchor="t">
            <a:noAutofit/>
          </a:bodyPr>
          <a:lstStyle/>
          <a:p>
            <a:pPr algn="r">
              <a:lnSpc>
                <a:spcPts val="1240"/>
              </a:lnSpc>
              <a:spcAft>
                <a:spcPts val="0"/>
              </a:spcAft>
            </a:pPr>
            <a:r>
              <a:rPr lang="en-US" sz="1000" b="0">
                <a:solidFill>
                  <a:srgbClr val="A9B8CC"/>
                </a:solidFill>
                <a:latin typeface="Arial"/>
              </a:rPr>
              <a:t xml:space="preserve">COMMERCIALIZATION · 5 / 5</a:t>
            </a:r>
            <a:endParaRPr lang="en-US" sz="1000"/>
          </a:p>
        </p:txBody>
      </p:sp>
      <p:sp>
        <p:nvSpPr>
          <p:cNvPr id="5" name="Shape 5"/>
          <p:cNvSpPr/>
          <p:nvPr/>
        </p:nvSpPr>
        <p:spPr>
          <a:xfrm>
            <a:off x="609600" y="736600"/>
            <a:ext cx="10972800" cy="1016000"/>
          </a:xfrm>
          <a:prstGeom prst="rect">
            <a:avLst/>
          </a:prstGeom>
          <a:noFill/>
          <a:ln>
            <a:noFill/>
          </a:ln>
        </p:spPr>
        <p:txBody>
          <a:bodyPr wrap="none" lIns="0" tIns="0" rIns="0" bIns="0" anchor="t">
            <a:noAutofit/>
          </a:bodyPr>
          <a:lstStyle/>
          <a:p>
            <a:pPr algn="l">
              <a:lnSpc>
                <a:spcPts val="3596"/>
              </a:lnSpc>
              <a:spcAft>
                <a:spcPts val="0"/>
              </a:spcAft>
            </a:pPr>
            <a:r>
              <a:rPr lang="en-US" sz="2900" b="1">
                <a:solidFill>
                  <a:srgbClr val="F2F6FC"/>
                </a:solidFill>
                <a:latin typeface="Arial"/>
              </a:rPr>
              <a:t xml:space="preserve">Commercialization plan: earn the right to scale</a:t>
            </a:r>
            <a:endParaRPr lang="en-US" sz="2900"/>
          </a:p>
        </p:txBody>
      </p:sp>
      <p:sp>
        <p:nvSpPr>
          <p:cNvPr id="6" name="Shape 6"/>
          <p:cNvSpPr/>
          <p:nvPr/>
        </p:nvSpPr>
        <p:spPr>
          <a:xfrm>
            <a:off x="609600" y="6299200"/>
            <a:ext cx="10972800" cy="12700"/>
          </a:xfrm>
          <a:prstGeom prst="rect">
            <a:avLst/>
          </a:prstGeom>
          <a:solidFill>
            <a:srgbClr val="2B3B52"/>
          </a:solidFill>
          <a:ln>
            <a:noFill/>
          </a:ln>
        </p:spPr>
      </p:sp>
      <p:sp>
        <p:nvSpPr>
          <p:cNvPr id="7" name="Shape 7"/>
          <p:cNvSpPr/>
          <p:nvPr/>
        </p:nvSpPr>
        <p:spPr>
          <a:xfrm>
            <a:off x="609600" y="6413500"/>
            <a:ext cx="10083800" cy="279400"/>
          </a:xfrm>
          <a:prstGeom prst="rect">
            <a:avLst/>
          </a:prstGeom>
          <a:noFill/>
          <a:ln>
            <a:noFill/>
          </a:ln>
        </p:spPr>
        <p:txBody>
          <a:bodyPr wrap="none" lIns="0" tIns="0" rIns="0" bIns="0" anchor="t">
            <a:noAutofit/>
          </a:bodyPr>
          <a:lstStyle/>
          <a:p>
            <a:pPr algn="l">
              <a:lnSpc>
                <a:spcPts val="1029"/>
              </a:lnSpc>
              <a:spcAft>
                <a:spcPts val="0"/>
              </a:spcAft>
            </a:pPr>
            <a:r>
              <a:rPr lang="en-US" sz="830" b="0">
                <a:solidFill>
                  <a:srgbClr val="A9B8CC"/>
                </a:solidFill>
                <a:latin typeface="Arial"/>
              </a:rPr>
              <a:t xml:space="preserve">Proposed commercialization actions; ownership, budget and customer evidence still to secure</a:t>
            </a:r>
            <a:endParaRPr lang="en-US" sz="830"/>
          </a:p>
        </p:txBody>
      </p:sp>
      <p:sp>
        <p:nvSpPr>
          <p:cNvPr id="8" name="Shape 8"/>
          <p:cNvSpPr/>
          <p:nvPr/>
        </p:nvSpPr>
        <p:spPr>
          <a:xfrm>
            <a:off x="11049000" y="6413500"/>
            <a:ext cx="533400" cy="241300"/>
          </a:xfrm>
          <a:prstGeom prst="rect">
            <a:avLst/>
          </a:prstGeom>
          <a:noFill/>
          <a:ln>
            <a:noFill/>
          </a:ln>
        </p:spPr>
        <p:txBody>
          <a:bodyPr wrap="none" lIns="0" tIns="0" rIns="0" bIns="0" anchor="t">
            <a:noAutofit/>
          </a:bodyPr>
          <a:lstStyle/>
          <a:p>
            <a:pPr algn="r">
              <a:lnSpc>
                <a:spcPts val="1240"/>
              </a:lnSpc>
              <a:spcAft>
                <a:spcPts val="0"/>
              </a:spcAft>
            </a:pPr>
            <a:r>
              <a:rPr lang="en-US" sz="1000" b="1">
                <a:solidFill>
                  <a:srgbClr val="40D9CD"/>
                </a:solidFill>
                <a:latin typeface="Arial"/>
              </a:rPr>
              <a:t xml:space="preserve">21</a:t>
            </a:r>
            <a:endParaRPr lang="en-US" sz="1000"/>
          </a:p>
        </p:txBody>
      </p:sp>
      <p:sp>
        <p:nvSpPr>
          <p:cNvPr id="9" name="Shape 9"/>
          <p:cNvSpPr/>
          <p:nvPr/>
        </p:nvSpPr>
        <p:spPr>
          <a:xfrm>
            <a:off x="609600" y="1917700"/>
            <a:ext cx="3505200" cy="3390900"/>
          </a:xfrm>
          <a:prstGeom prst="roundRect">
            <a:avLst/>
          </a:prstGeom>
          <a:solidFill>
            <a:srgbClr val="142238"/>
          </a:solidFill>
          <a:ln>
            <a:noFill/>
          </a:ln>
        </p:spPr>
      </p:sp>
      <p:sp>
        <p:nvSpPr>
          <p:cNvPr id="10" name="Shape 10"/>
          <p:cNvSpPr/>
          <p:nvPr/>
        </p:nvSpPr>
        <p:spPr>
          <a:xfrm>
            <a:off x="838200" y="2159000"/>
            <a:ext cx="406400" cy="38100"/>
          </a:xfrm>
          <a:prstGeom prst="rect">
            <a:avLst/>
          </a:prstGeom>
          <a:solidFill>
            <a:srgbClr val="40D9CD"/>
          </a:solidFill>
          <a:ln>
            <a:noFill/>
          </a:ln>
        </p:spPr>
      </p:sp>
      <p:sp>
        <p:nvSpPr>
          <p:cNvPr id="11" name="Shape 11"/>
          <p:cNvSpPr/>
          <p:nvPr/>
        </p:nvSpPr>
        <p:spPr>
          <a:xfrm>
            <a:off x="8382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1 Secure the partner</a:t>
            </a:r>
            <a:endParaRPr lang="en-US" sz="1900"/>
          </a:p>
        </p:txBody>
      </p:sp>
      <p:sp>
        <p:nvSpPr>
          <p:cNvPr id="12" name="Shape 12"/>
          <p:cNvSpPr/>
          <p:nvPr/>
        </p:nvSpPr>
        <p:spPr>
          <a:xfrm>
            <a:off x="8382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One scoped buyer problem,</a:t>
            </a:r>
            <a:endParaRPr lang="en-US" sz="1700"/>
          </a:p>
          <a:p>
            <a:pPr algn="l">
              <a:lnSpc>
                <a:spcPts val="2108"/>
              </a:lnSpc>
              <a:spcAft>
                <a:spcPts val="0"/>
              </a:spcAft>
            </a:pPr>
            <a:r>
              <a:rPr lang="en-US" sz="1700" b="0">
                <a:solidFill>
                  <a:srgbClr val="A9B8CC"/>
                </a:solidFill>
                <a:latin typeface="Arial"/>
              </a:rPr>
              <a:t xml:space="preserve">usable historical data, engineer</a:t>
            </a:r>
            <a:endParaRPr lang="en-US" sz="1700"/>
          </a:p>
          <a:p>
            <a:pPr algn="l">
              <a:lnSpc>
                <a:spcPts val="2108"/>
              </a:lnSpc>
              <a:spcAft>
                <a:spcPts val="0"/>
              </a:spcAft>
            </a:pPr>
            <a:r>
              <a:rPr lang="en-US" sz="1700" b="0">
                <a:solidFill>
                  <a:srgbClr val="A9B8CC"/>
                </a:solidFill>
                <a:latin typeface="Arial"/>
              </a:rPr>
              <a:t xml:space="preserve">sponsor and a paid pilot</a:t>
            </a:r>
            <a:endParaRPr lang="en-US" sz="1700"/>
          </a:p>
          <a:p>
            <a:pPr algn="l">
              <a:lnSpc>
                <a:spcPts val="2108"/>
              </a:lnSpc>
              <a:spcAft>
                <a:spcPts val="0"/>
              </a:spcAft>
            </a:pPr>
            <a:r>
              <a:rPr lang="en-US" sz="1700" b="0">
                <a:solidFill>
                  <a:srgbClr val="A9B8CC"/>
                </a:solidFill>
                <a:latin typeface="Arial"/>
              </a:rPr>
              <a:t xml:space="preserve">agreement.</a:t>
            </a:r>
            <a:endParaRPr lang="en-US" sz="1700"/>
          </a:p>
        </p:txBody>
      </p:sp>
      <p:sp>
        <p:nvSpPr>
          <p:cNvPr id="13" name="Shape 13"/>
          <p:cNvSpPr/>
          <p:nvPr/>
        </p:nvSpPr>
        <p:spPr>
          <a:xfrm>
            <a:off x="4343400" y="1917700"/>
            <a:ext cx="3505200" cy="3390900"/>
          </a:xfrm>
          <a:prstGeom prst="roundRect">
            <a:avLst/>
          </a:prstGeom>
          <a:solidFill>
            <a:srgbClr val="142238"/>
          </a:solidFill>
          <a:ln>
            <a:noFill/>
          </a:ln>
        </p:spPr>
      </p:sp>
      <p:sp>
        <p:nvSpPr>
          <p:cNvPr id="14" name="Shape 14"/>
          <p:cNvSpPr/>
          <p:nvPr/>
        </p:nvSpPr>
        <p:spPr>
          <a:xfrm>
            <a:off x="4572000" y="2159000"/>
            <a:ext cx="406400" cy="38100"/>
          </a:xfrm>
          <a:prstGeom prst="rect">
            <a:avLst/>
          </a:prstGeom>
          <a:solidFill>
            <a:srgbClr val="6FADFF"/>
          </a:solidFill>
          <a:ln>
            <a:noFill/>
          </a:ln>
        </p:spPr>
      </p:sp>
      <p:sp>
        <p:nvSpPr>
          <p:cNvPr id="15" name="Shape 15"/>
          <p:cNvSpPr/>
          <p:nvPr/>
        </p:nvSpPr>
        <p:spPr>
          <a:xfrm>
            <a:off x="45720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2 Prove operational value</a:t>
            </a:r>
            <a:endParaRPr lang="en-US" sz="1900"/>
          </a:p>
        </p:txBody>
      </p:sp>
      <p:sp>
        <p:nvSpPr>
          <p:cNvPr id="16" name="Shape 16"/>
          <p:cNvSpPr/>
          <p:nvPr/>
        </p:nvSpPr>
        <p:spPr>
          <a:xfrm>
            <a:off x="45720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Prospective evaluation,</a:t>
            </a:r>
            <a:endParaRPr lang="en-US" sz="1700"/>
          </a:p>
          <a:p>
            <a:pPr algn="l">
              <a:lnSpc>
                <a:spcPts val="2108"/>
              </a:lnSpc>
              <a:spcAft>
                <a:spcPts val="0"/>
              </a:spcAft>
            </a:pPr>
            <a:r>
              <a:rPr lang="en-US" sz="1700" b="0">
                <a:solidFill>
                  <a:srgbClr val="A9B8CC"/>
                </a:solidFill>
                <a:latin typeface="Arial"/>
              </a:rPr>
              <a:t xml:space="preserve">reviewed actions, acceptable</a:t>
            </a:r>
            <a:endParaRPr lang="en-US" sz="1700"/>
          </a:p>
          <a:p>
            <a:pPr algn="l">
              <a:lnSpc>
                <a:spcPts val="2108"/>
              </a:lnSpc>
              <a:spcAft>
                <a:spcPts val="0"/>
              </a:spcAft>
            </a:pPr>
            <a:r>
              <a:rPr lang="en-US" sz="1700" b="0">
                <a:solidFill>
                  <a:srgbClr val="A9B8CC"/>
                </a:solidFill>
                <a:latin typeface="Arial"/>
              </a:rPr>
              <a:t xml:space="preserve">alert burden, security checks</a:t>
            </a:r>
            <a:endParaRPr lang="en-US" sz="1700"/>
          </a:p>
          <a:p>
            <a:pPr algn="l">
              <a:lnSpc>
                <a:spcPts val="2108"/>
              </a:lnSpc>
              <a:spcAft>
                <a:spcPts val="0"/>
              </a:spcAft>
            </a:pPr>
            <a:r>
              <a:rPr lang="en-US" sz="1700" b="0">
                <a:solidFill>
                  <a:srgbClr val="A9B8CC"/>
                </a:solidFill>
                <a:latin typeface="Arial"/>
              </a:rPr>
              <a:t xml:space="preserve">and auditable ROI.</a:t>
            </a:r>
            <a:endParaRPr lang="en-US" sz="1700"/>
          </a:p>
        </p:txBody>
      </p:sp>
      <p:sp>
        <p:nvSpPr>
          <p:cNvPr id="17" name="Shape 17"/>
          <p:cNvSpPr/>
          <p:nvPr/>
        </p:nvSpPr>
        <p:spPr>
          <a:xfrm>
            <a:off x="8077200" y="1917700"/>
            <a:ext cx="3505200" cy="3390900"/>
          </a:xfrm>
          <a:prstGeom prst="roundRect">
            <a:avLst/>
          </a:prstGeom>
          <a:solidFill>
            <a:srgbClr val="142238"/>
          </a:solidFill>
          <a:ln>
            <a:noFill/>
          </a:ln>
        </p:spPr>
      </p:sp>
      <p:sp>
        <p:nvSpPr>
          <p:cNvPr id="18" name="Shape 18"/>
          <p:cNvSpPr/>
          <p:nvPr/>
        </p:nvSpPr>
        <p:spPr>
          <a:xfrm>
            <a:off x="8305800" y="2159000"/>
            <a:ext cx="406400" cy="38100"/>
          </a:xfrm>
          <a:prstGeom prst="rect">
            <a:avLst/>
          </a:prstGeom>
          <a:solidFill>
            <a:srgbClr val="F1C56C"/>
          </a:solidFill>
          <a:ln>
            <a:noFill/>
          </a:ln>
        </p:spPr>
      </p:sp>
      <p:sp>
        <p:nvSpPr>
          <p:cNvPr id="19" name="Shape 19"/>
          <p:cNvSpPr/>
          <p:nvPr/>
        </p:nvSpPr>
        <p:spPr>
          <a:xfrm>
            <a:off x="8305800" y="2349500"/>
            <a:ext cx="3048000" cy="736600"/>
          </a:xfrm>
          <a:prstGeom prst="rect">
            <a:avLst/>
          </a:prstGeom>
          <a:noFill/>
          <a:ln>
            <a:noFill/>
          </a:ln>
        </p:spPr>
        <p:txBody>
          <a:bodyPr wrap="none" lIns="0" tIns="0" rIns="0" bIns="0" anchor="t">
            <a:noAutofit/>
          </a:bodyPr>
          <a:lstStyle/>
          <a:p>
            <a:pPr algn="l">
              <a:lnSpc>
                <a:spcPts val="2356"/>
              </a:lnSpc>
              <a:spcAft>
                <a:spcPts val="0"/>
              </a:spcAft>
            </a:pPr>
            <a:r>
              <a:rPr lang="en-US" sz="1900" b="1">
                <a:solidFill>
                  <a:srgbClr val="F2F6FC"/>
                </a:solidFill>
                <a:latin typeface="Arial"/>
              </a:rPr>
              <a:t xml:space="preserve">3 Scale a repeatable offer</a:t>
            </a:r>
            <a:endParaRPr lang="en-US" sz="1900"/>
          </a:p>
        </p:txBody>
      </p:sp>
      <p:sp>
        <p:nvSpPr>
          <p:cNvPr id="20" name="Shape 20"/>
          <p:cNvSpPr/>
          <p:nvPr/>
        </p:nvSpPr>
        <p:spPr>
          <a:xfrm>
            <a:off x="8305800" y="3213100"/>
            <a:ext cx="3048000" cy="1930400"/>
          </a:xfrm>
          <a:prstGeom prst="rect">
            <a:avLst/>
          </a:prstGeom>
          <a:noFill/>
          <a:ln>
            <a:noFill/>
          </a:ln>
        </p:spPr>
        <p:txBody>
          <a:bodyPr wrap="none" lIns="0" tIns="0" rIns="0" bIns="0" anchor="t">
            <a:noAutofit/>
          </a:bodyPr>
          <a:lstStyle/>
          <a:p>
            <a:pPr algn="l">
              <a:lnSpc>
                <a:spcPts val="2108"/>
              </a:lnSpc>
              <a:spcAft>
                <a:spcPts val="0"/>
              </a:spcAft>
            </a:pPr>
            <a:r>
              <a:rPr lang="en-US" sz="1700" b="0">
                <a:solidFill>
                  <a:srgbClr val="A9B8CC"/>
                </a:solidFill>
                <a:latin typeface="Arial"/>
              </a:rPr>
              <a:t xml:space="preserve">Convert the pilot, standardize</a:t>
            </a:r>
            <a:endParaRPr lang="en-US" sz="1700"/>
          </a:p>
          <a:p>
            <a:pPr algn="l">
              <a:lnSpc>
                <a:spcPts val="2108"/>
              </a:lnSpc>
              <a:spcAft>
                <a:spcPts val="0"/>
              </a:spcAft>
            </a:pPr>
            <a:r>
              <a:rPr lang="en-US" sz="1700" b="0">
                <a:solidFill>
                  <a:srgbClr val="A9B8CC"/>
                </a:solidFill>
                <a:latin typeface="Arial"/>
              </a:rPr>
              <a:t xml:space="preserve">onboarding and support, then</a:t>
            </a:r>
            <a:endParaRPr lang="en-US" sz="1700"/>
          </a:p>
          <a:p>
            <a:pPr algn="l">
              <a:lnSpc>
                <a:spcPts val="2108"/>
              </a:lnSpc>
              <a:spcAft>
                <a:spcPts val="0"/>
              </a:spcAft>
            </a:pPr>
            <a:r>
              <a:rPr lang="en-US" sz="1700" b="0">
                <a:solidFill>
                  <a:srgbClr val="A9B8CC"/>
                </a:solidFill>
                <a:latin typeface="Arial"/>
              </a:rPr>
              <a:t xml:space="preserve">expand to additional fleets.</a:t>
            </a:r>
            <a:endParaRPr lang="en-US" sz="1700"/>
          </a:p>
        </p:txBody>
      </p:sp>
      <p:sp>
        <p:nvSpPr>
          <p:cNvPr id="21" name="Shape 21"/>
          <p:cNvSpPr/>
          <p:nvPr/>
        </p:nvSpPr>
        <p:spPr>
          <a:xfrm>
            <a:off x="609600" y="5575300"/>
            <a:ext cx="10972800" cy="520700"/>
          </a:xfrm>
          <a:prstGeom prst="roundRect">
            <a:avLst/>
          </a:prstGeom>
          <a:solidFill>
            <a:srgbClr val="142238"/>
          </a:solidFill>
          <a:ln>
            <a:noFill/>
          </a:ln>
        </p:spPr>
      </p:sp>
      <p:sp>
        <p:nvSpPr>
          <p:cNvPr id="22" name="Shape 22"/>
          <p:cNvSpPr/>
          <p:nvPr/>
        </p:nvSpPr>
        <p:spPr>
          <a:xfrm>
            <a:off x="800100" y="5715000"/>
            <a:ext cx="10591800" cy="317500"/>
          </a:xfrm>
          <a:prstGeom prst="rect">
            <a:avLst/>
          </a:prstGeom>
          <a:noFill/>
          <a:ln>
            <a:noFill/>
          </a:ln>
        </p:spPr>
        <p:txBody>
          <a:bodyPr wrap="none" lIns="0" tIns="0" rIns="0" bIns="0" anchor="t">
            <a:noAutofit/>
          </a:bodyPr>
          <a:lstStyle/>
          <a:p>
            <a:pPr algn="l">
              <a:lnSpc>
                <a:spcPts val="1736"/>
              </a:lnSpc>
              <a:spcAft>
                <a:spcPts val="0"/>
              </a:spcAft>
            </a:pPr>
            <a:r>
              <a:rPr lang="en-US" sz="1400" b="1">
                <a:solidFill>
                  <a:srgbClr val="40D9CD"/>
                </a:solidFill>
                <a:latin typeface="Arial"/>
              </a:rPr>
              <a:t xml:space="preserve">Next milestone: one paid design-partner pilot with success and stop criteria agreed in advance.</a:t>
            </a:r>
            <a:endParaRPr lang="en-US" sz="1400"/>
          </a:p>
        </p:txBody>
      </p:sp>
    </p:spTree>
  </p:cSld>
  <p:clrMapOvr>
    <a:masterClrMapping/>
  </p:clrMapOvr>
</p:sld>
</file>

<file path=ppt/theme/theme1.xml><?xml version="1.0" encoding="utf-8"?>
<a:theme xmlns:a="http://schemas.openxmlformats.org/drawingml/2006/main" name="AeroTwin">
  <a:themeElements>
    <a:clrScheme name="AeroTwin">
      <a:dk1>
        <a:srgbClr val="0B1220"/>
      </a:dk1>
      <a:lt1>
        <a:srgbClr val="FFFFFF"/>
      </a:lt1>
      <a:dk2>
        <a:srgbClr val="142238"/>
      </a:dk2>
      <a:lt2>
        <a:srgbClr val="F2F6FC"/>
      </a:lt2>
      <a:accent1>
        <a:srgbClr val="40D9CD"/>
      </a:accent1>
      <a:accent2>
        <a:srgbClr val="6FADFF"/>
      </a:accent2>
      <a:accent3>
        <a:srgbClr val="F1C56C"/>
      </a:accent3>
      <a:accent4>
        <a:srgbClr val="F08F95"/>
      </a:accent4>
      <a:accent5>
        <a:srgbClr val="A9B8CC"/>
      </a:accent5>
      <a:accent6>
        <a:srgbClr val="2B3B52"/>
      </a:accent6>
      <a:hlink>
        <a:srgbClr val="6FADFF"/>
      </a:hlink>
      <a:folHlink>
        <a:srgbClr val="A9B8CC"/>
      </a:folHlink>
    </a:clrScheme>
    <a:fontScheme name="Arial">
      <a:majorFont>
        <a:latin typeface="Arial"/>
        <a:ea typeface=""/>
        <a:cs typeface=""/>
      </a:majorFont>
      <a:minorFont>
        <a:latin typeface="Arial"/>
        <a:ea typeface=""/>
        <a:cs typeface=""/>
      </a:minorFont>
    </a:fontScheme>
    <a:fmtScheme name="AeroTwin">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AeroTwin OS presentation builder</Application>
  <PresentationFormat>On-screen Show (16:9)</PresentationFormat>
  <Slides>21</Slides>
  <Notes>21</Notes>
</Properties>
</file>

<file path=docProps/core.xml><?xml version="1.0" encoding="utf-8"?>
<cp:coreProperties xmlns:cp="http://schemas.openxmlformats.org/package/2006/metadata/core-properties" xmlns:dc="http://purl.org/dc/elements/1.1/">
  <dc:title>AeroTwin OS — Overall Product and Commercialization</dc:title>
  <dc:creator>AeroTwin OS project</dc:creator>
  <dc:description>Standalone editable research-product deck. Pricing is proposed; simulation results are labelled. Original SharePoint template was not accessible.</dc:description>
</cp:coreProperties>
</file>